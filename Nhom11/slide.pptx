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rimo Bold" charset="1" panose="020B0704020202020204"/>
      <p:regular r:id="rId20"/>
    </p:embeddedFont>
    <p:embeddedFont>
      <p:font typeface="Arimo" charset="1" panose="020B0604020202020204"/>
      <p:regular r:id="rId21"/>
    </p:embeddedFont>
    <p:embeddedFont>
      <p:font typeface="Poppins" charset="1" panose="00000500000000000000"/>
      <p:regular r:id="rId23"/>
    </p:embeddedFont>
    <p:embeddedFont>
      <p:font typeface="Poppins Bold" charset="1" panose="000008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fonts/font23.fntdata" Type="http://schemas.openxmlformats.org/officeDocument/2006/relationships/font"/><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fonts/font27.fntdata" Type="http://schemas.openxmlformats.org/officeDocument/2006/relationships/font"/><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16" Target="../media/image14.png" Type="http://schemas.openxmlformats.org/officeDocument/2006/relationships/image"/><Relationship Id="rId17" Target="../media/image15.svg" Type="http://schemas.openxmlformats.org/officeDocument/2006/relationships/image"/><Relationship Id="rId18" Target="../media/image16.png" Type="http://schemas.openxmlformats.org/officeDocument/2006/relationships/image"/><Relationship Id="rId19" Target="../media/image17.svg" Type="http://schemas.openxmlformats.org/officeDocument/2006/relationships/image"/><Relationship Id="rId2" Target="../notesSlides/notesSlide1.xml" Type="http://schemas.openxmlformats.org/officeDocument/2006/relationships/notesSlide"/><Relationship Id="rId20" Target="../media/image18.png" Type="http://schemas.openxmlformats.org/officeDocument/2006/relationships/image"/><Relationship Id="rId21" Target="../media/image19.png" Type="http://schemas.openxmlformats.org/officeDocument/2006/relationships/image"/><Relationship Id="rId22" Target="../media/image20.sv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12" Target="../media/image18.png" Type="http://schemas.openxmlformats.org/officeDocument/2006/relationships/image"/><Relationship Id="rId2" Target="../notesSlides/notesSlide2.xml" Type="http://schemas.openxmlformats.org/officeDocument/2006/relationships/notesSlide"/><Relationship Id="rId3" Target="../media/image1.pn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svg" Type="http://schemas.openxmlformats.org/officeDocument/2006/relationships/image"/><Relationship Id="rId12" Target="../media/image18.png" Type="http://schemas.openxmlformats.org/officeDocument/2006/relationships/image"/><Relationship Id="rId2" Target="../notesSlides/notesSlide3.xml" Type="http://schemas.openxmlformats.org/officeDocument/2006/relationships/notesSlide"/><Relationship Id="rId3" Target="../media/image1.pn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12" Target="../media/image45.png" Type="http://schemas.openxmlformats.org/officeDocument/2006/relationships/image"/><Relationship Id="rId13" Target="../media/image46.svg" Type="http://schemas.openxmlformats.org/officeDocument/2006/relationships/image"/><Relationship Id="rId14" Target="../media/image18.png" Type="http://schemas.openxmlformats.org/officeDocument/2006/relationships/image"/><Relationship Id="rId15" Target="../media/image47.png" Type="http://schemas.openxmlformats.org/officeDocument/2006/relationships/image"/><Relationship Id="rId16" Target="../media/image48.svg" Type="http://schemas.openxmlformats.org/officeDocument/2006/relationships/image"/><Relationship Id="rId17" Target="../media/image49.png" Type="http://schemas.openxmlformats.org/officeDocument/2006/relationships/image"/><Relationship Id="rId18" Target="../media/image50.svg" Type="http://schemas.openxmlformats.org/officeDocument/2006/relationships/image"/><Relationship Id="rId2" Target="../notesSlides/notesSlide4.xml" Type="http://schemas.openxmlformats.org/officeDocument/2006/relationships/notesSlide"/><Relationship Id="rId3" Target="../media/image1.pn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png" Type="http://schemas.openxmlformats.org/officeDocument/2006/relationships/image"/><Relationship Id="rId11" Target="../media/image58.svg" Type="http://schemas.openxmlformats.org/officeDocument/2006/relationships/image"/><Relationship Id="rId12" Target="../media/image59.png" Type="http://schemas.openxmlformats.org/officeDocument/2006/relationships/image"/><Relationship Id="rId13" Target="../media/image60.svg" Type="http://schemas.openxmlformats.org/officeDocument/2006/relationships/image"/><Relationship Id="rId14" Target="../media/image61.png" Type="http://schemas.openxmlformats.org/officeDocument/2006/relationships/image"/><Relationship Id="rId15" Target="../media/image62.svg" Type="http://schemas.openxmlformats.org/officeDocument/2006/relationships/image"/><Relationship Id="rId16" Target="../media/image63.png" Type="http://schemas.openxmlformats.org/officeDocument/2006/relationships/image"/><Relationship Id="rId17" Target="../media/image64.svg" Type="http://schemas.openxmlformats.org/officeDocument/2006/relationships/image"/><Relationship Id="rId18" Target="../media/image18.png" Type="http://schemas.openxmlformats.org/officeDocument/2006/relationships/image"/><Relationship Id="rId19" Target="../media/image65.png" Type="http://schemas.openxmlformats.org/officeDocument/2006/relationships/image"/><Relationship Id="rId2" Target="../notesSlides/notesSlide5.xml" Type="http://schemas.openxmlformats.org/officeDocument/2006/relationships/notesSlide"/><Relationship Id="rId20" Target="../media/image66.svg" Type="http://schemas.openxmlformats.org/officeDocument/2006/relationships/image"/><Relationship Id="rId21" Target="../media/image67.png" Type="http://schemas.openxmlformats.org/officeDocument/2006/relationships/image"/><Relationship Id="rId22" Target="../media/image68.svg" Type="http://schemas.openxmlformats.org/officeDocument/2006/relationships/image"/><Relationship Id="rId3" Target="../media/image1.pn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 Id="rId6" Target="../media/image53.png" Type="http://schemas.openxmlformats.org/officeDocument/2006/relationships/image"/><Relationship Id="rId7" Target="../media/image54.svg" Type="http://schemas.openxmlformats.org/officeDocument/2006/relationships/image"/><Relationship Id="rId8" Target="../media/image55.png" Type="http://schemas.openxmlformats.org/officeDocument/2006/relationships/image"/><Relationship Id="rId9" Target="../media/image5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4.svg" Type="http://schemas.openxmlformats.org/officeDocument/2006/relationships/image"/><Relationship Id="rId11" Target="../media/image75.png" Type="http://schemas.openxmlformats.org/officeDocument/2006/relationships/image"/><Relationship Id="rId2" Target="../notesSlides/notesSlide6.xml" Type="http://schemas.openxmlformats.org/officeDocument/2006/relationships/notesSlide"/><Relationship Id="rId3" Target="../media/image1.png" Type="http://schemas.openxmlformats.org/officeDocument/2006/relationships/image"/><Relationship Id="rId4" Target="../media/image69.png" Type="http://schemas.openxmlformats.org/officeDocument/2006/relationships/image"/><Relationship Id="rId5" Target="../media/image70.svg" Type="http://schemas.openxmlformats.org/officeDocument/2006/relationships/image"/><Relationship Id="rId6" Target="../media/image71.png" Type="http://schemas.openxmlformats.org/officeDocument/2006/relationships/image"/><Relationship Id="rId7" Target="../media/image72.svg" Type="http://schemas.openxmlformats.org/officeDocument/2006/relationships/image"/><Relationship Id="rId8" Target="../media/image18.png" Type="http://schemas.openxmlformats.org/officeDocument/2006/relationships/image"/><Relationship Id="rId9" Target="../media/image7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4.svg" Type="http://schemas.openxmlformats.org/officeDocument/2006/relationships/image"/><Relationship Id="rId2" Target="../notesSlides/notesSlide7.xml" Type="http://schemas.openxmlformats.org/officeDocument/2006/relationships/notesSlide"/><Relationship Id="rId3" Target="../media/image1.png" Type="http://schemas.openxmlformats.org/officeDocument/2006/relationships/image"/><Relationship Id="rId4" Target="../media/image69.png" Type="http://schemas.openxmlformats.org/officeDocument/2006/relationships/image"/><Relationship Id="rId5" Target="../media/image70.svg" Type="http://schemas.openxmlformats.org/officeDocument/2006/relationships/image"/><Relationship Id="rId6" Target="../media/image71.png" Type="http://schemas.openxmlformats.org/officeDocument/2006/relationships/image"/><Relationship Id="rId7" Target="../media/image72.svg" Type="http://schemas.openxmlformats.org/officeDocument/2006/relationships/image"/><Relationship Id="rId8" Target="../media/image18.png" Type="http://schemas.openxmlformats.org/officeDocument/2006/relationships/image"/><Relationship Id="rId9" Target="../media/image7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76.png" Type="http://schemas.openxmlformats.org/officeDocument/2006/relationships/image"/><Relationship Id="rId5" Target="../media/image77.svg" Type="http://schemas.openxmlformats.org/officeDocument/2006/relationships/image"/><Relationship Id="rId6" Target="../media/image78.png" Type="http://schemas.openxmlformats.org/officeDocument/2006/relationships/image"/><Relationship Id="rId7" Target="../media/image79.svg" Type="http://schemas.openxmlformats.org/officeDocument/2006/relationships/image"/><Relationship Id="rId8" Target="../media/image80.png" Type="http://schemas.openxmlformats.org/officeDocument/2006/relationships/image"/><Relationship Id="rId9" Target="../media/image8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76.png" Type="http://schemas.openxmlformats.org/officeDocument/2006/relationships/image"/><Relationship Id="rId5" Target="../media/image77.svg" Type="http://schemas.openxmlformats.org/officeDocument/2006/relationships/image"/><Relationship Id="rId6" Target="../media/image78.png" Type="http://schemas.openxmlformats.org/officeDocument/2006/relationships/image"/><Relationship Id="rId7" Target="../media/image79.svg" Type="http://schemas.openxmlformats.org/officeDocument/2006/relationships/image"/><Relationship Id="rId8" Target="../media/image80.png" Type="http://schemas.openxmlformats.org/officeDocument/2006/relationships/image"/><Relationship Id="rId9" Target="../media/image8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12" Target="../media/image45.png" Type="http://schemas.openxmlformats.org/officeDocument/2006/relationships/image"/><Relationship Id="rId13" Target="../media/image46.svg" Type="http://schemas.openxmlformats.org/officeDocument/2006/relationships/image"/><Relationship Id="rId14" Target="../media/image18.png" Type="http://schemas.openxmlformats.org/officeDocument/2006/relationships/image"/><Relationship Id="rId15" Target="../media/image47.png" Type="http://schemas.openxmlformats.org/officeDocument/2006/relationships/image"/><Relationship Id="rId16" Target="../media/image48.svg" Type="http://schemas.openxmlformats.org/officeDocument/2006/relationships/image"/><Relationship Id="rId2" Target="../notesSlides/notesSlide10.xml" Type="http://schemas.openxmlformats.org/officeDocument/2006/relationships/notesSlide"/><Relationship Id="rId3" Target="../media/image1.pn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8.png" Type="http://schemas.openxmlformats.org/officeDocument/2006/relationships/image"/><Relationship Id="rId11" Target="../media/image89.svg" Type="http://schemas.openxmlformats.org/officeDocument/2006/relationships/image"/><Relationship Id="rId12" Target="../media/image90.png" Type="http://schemas.openxmlformats.org/officeDocument/2006/relationships/image"/><Relationship Id="rId13" Target="../media/image91.svg" Type="http://schemas.openxmlformats.org/officeDocument/2006/relationships/image"/><Relationship Id="rId14" Target="../media/image92.png" Type="http://schemas.openxmlformats.org/officeDocument/2006/relationships/image"/><Relationship Id="rId15" Target="../media/image93.svg" Type="http://schemas.openxmlformats.org/officeDocument/2006/relationships/image"/><Relationship Id="rId16" Target="../media/image94.png" Type="http://schemas.openxmlformats.org/officeDocument/2006/relationships/image"/><Relationship Id="rId17" Target="../media/image95.svg" Type="http://schemas.openxmlformats.org/officeDocument/2006/relationships/image"/><Relationship Id="rId18" Target="../media/image96.png" Type="http://schemas.openxmlformats.org/officeDocument/2006/relationships/image"/><Relationship Id="rId19" Target="../media/image97.svg" Type="http://schemas.openxmlformats.org/officeDocument/2006/relationships/image"/><Relationship Id="rId2" Target="../notesSlides/notesSlide11.xml" Type="http://schemas.openxmlformats.org/officeDocument/2006/relationships/notesSlide"/><Relationship Id="rId20" Target="../media/image98.png" Type="http://schemas.openxmlformats.org/officeDocument/2006/relationships/image"/><Relationship Id="rId21" Target="../media/image99.svg" Type="http://schemas.openxmlformats.org/officeDocument/2006/relationships/image"/><Relationship Id="rId22" Target="../media/image100.png" Type="http://schemas.openxmlformats.org/officeDocument/2006/relationships/image"/><Relationship Id="rId23" Target="../media/image101.svg" Type="http://schemas.openxmlformats.org/officeDocument/2006/relationships/image"/><Relationship Id="rId24" Target="../media/image18.png" Type="http://schemas.openxmlformats.org/officeDocument/2006/relationships/image"/><Relationship Id="rId25" Target="../media/image102.png" Type="http://schemas.openxmlformats.org/officeDocument/2006/relationships/image"/><Relationship Id="rId26" Target="../media/image103.svg" Type="http://schemas.openxmlformats.org/officeDocument/2006/relationships/image"/><Relationship Id="rId3" Target="../media/image1.png" Type="http://schemas.openxmlformats.org/officeDocument/2006/relationships/image"/><Relationship Id="rId4" Target="../media/image82.png" Type="http://schemas.openxmlformats.org/officeDocument/2006/relationships/image"/><Relationship Id="rId5" Target="../media/image83.svg" Type="http://schemas.openxmlformats.org/officeDocument/2006/relationships/image"/><Relationship Id="rId6" Target="../media/image84.png" Type="http://schemas.openxmlformats.org/officeDocument/2006/relationships/image"/><Relationship Id="rId7" Target="../media/image85.svg" Type="http://schemas.openxmlformats.org/officeDocument/2006/relationships/image"/><Relationship Id="rId8" Target="../media/image86.png" Type="http://schemas.openxmlformats.org/officeDocument/2006/relationships/image"/><Relationship Id="rId9" Target="../media/image8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8D9AD"/>
        </a:solidFill>
      </p:bgPr>
    </p:bg>
    <p:spTree>
      <p:nvGrpSpPr>
        <p:cNvPr id="1" name=""/>
        <p:cNvGrpSpPr/>
        <p:nvPr/>
      </p:nvGrpSpPr>
      <p:grpSpPr>
        <a:xfrm>
          <a:off x="0" y="0"/>
          <a:ext cx="0" cy="0"/>
          <a:chOff x="0" y="0"/>
          <a:chExt cx="0" cy="0"/>
        </a:xfrm>
      </p:grpSpPr>
      <p:sp>
        <p:nvSpPr>
          <p:cNvPr name="Freeform 2" id="2"/>
          <p:cNvSpPr/>
          <p:nvPr/>
        </p:nvSpPr>
        <p:spPr>
          <a:xfrm flipH="false" flipV="false" rot="0">
            <a:off x="39516" y="0"/>
            <a:ext cx="18208972" cy="10287002"/>
          </a:xfrm>
          <a:custGeom>
            <a:avLst/>
            <a:gdLst/>
            <a:ahLst/>
            <a:cxnLst/>
            <a:rect r="r" b="b" t="t" l="l"/>
            <a:pathLst>
              <a:path h="10287002" w="18208972">
                <a:moveTo>
                  <a:pt x="0" y="0"/>
                </a:moveTo>
                <a:lnTo>
                  <a:pt x="18208972" y="0"/>
                </a:lnTo>
                <a:lnTo>
                  <a:pt x="18208972" y="10287002"/>
                </a:lnTo>
                <a:lnTo>
                  <a:pt x="0" y="10287002"/>
                </a:lnTo>
                <a:lnTo>
                  <a:pt x="0" y="0"/>
                </a:lnTo>
                <a:close/>
              </a:path>
            </a:pathLst>
          </a:custGeom>
          <a:blipFill>
            <a:blip r:embed="rId3"/>
            <a:stretch>
              <a:fillRect l="0" t="0" r="0" b="0"/>
            </a:stretch>
          </a:blipFill>
        </p:spPr>
      </p:sp>
      <p:sp>
        <p:nvSpPr>
          <p:cNvPr name="Freeform 3" id="3"/>
          <p:cNvSpPr/>
          <p:nvPr/>
        </p:nvSpPr>
        <p:spPr>
          <a:xfrm flipH="false" flipV="false" rot="0">
            <a:off x="16141158" y="-381580"/>
            <a:ext cx="3271895" cy="5351525"/>
          </a:xfrm>
          <a:custGeom>
            <a:avLst/>
            <a:gdLst/>
            <a:ahLst/>
            <a:cxnLst/>
            <a:rect r="r" b="b" t="t" l="l"/>
            <a:pathLst>
              <a:path h="5351525" w="3271895">
                <a:moveTo>
                  <a:pt x="0" y="0"/>
                </a:moveTo>
                <a:lnTo>
                  <a:pt x="3271895" y="0"/>
                </a:lnTo>
                <a:lnTo>
                  <a:pt x="3271895" y="5351526"/>
                </a:lnTo>
                <a:lnTo>
                  <a:pt x="0" y="53515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149813" y="-1806854"/>
            <a:ext cx="8813563" cy="5965636"/>
          </a:xfrm>
          <a:custGeom>
            <a:avLst/>
            <a:gdLst/>
            <a:ahLst/>
            <a:cxnLst/>
            <a:rect r="r" b="b" t="t" l="l"/>
            <a:pathLst>
              <a:path h="5965636" w="8813563">
                <a:moveTo>
                  <a:pt x="0" y="0"/>
                </a:moveTo>
                <a:lnTo>
                  <a:pt x="8813564" y="0"/>
                </a:lnTo>
                <a:lnTo>
                  <a:pt x="8813564" y="5965636"/>
                </a:lnTo>
                <a:lnTo>
                  <a:pt x="0" y="59656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156336" y="-2705020"/>
            <a:ext cx="9741169" cy="8830181"/>
          </a:xfrm>
          <a:custGeom>
            <a:avLst/>
            <a:gdLst/>
            <a:ahLst/>
            <a:cxnLst/>
            <a:rect r="r" b="b" t="t" l="l"/>
            <a:pathLst>
              <a:path h="8830181" w="9741169">
                <a:moveTo>
                  <a:pt x="0" y="0"/>
                </a:moveTo>
                <a:lnTo>
                  <a:pt x="9741169" y="0"/>
                </a:lnTo>
                <a:lnTo>
                  <a:pt x="9741169" y="8830182"/>
                </a:lnTo>
                <a:lnTo>
                  <a:pt x="0" y="88301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173789" y="5488619"/>
            <a:ext cx="8419543" cy="9105320"/>
          </a:xfrm>
          <a:custGeom>
            <a:avLst/>
            <a:gdLst/>
            <a:ahLst/>
            <a:cxnLst/>
            <a:rect r="r" b="b" t="t" l="l"/>
            <a:pathLst>
              <a:path h="9105320" w="8419543">
                <a:moveTo>
                  <a:pt x="0" y="0"/>
                </a:moveTo>
                <a:lnTo>
                  <a:pt x="8419544" y="0"/>
                </a:lnTo>
                <a:lnTo>
                  <a:pt x="8419544" y="9105320"/>
                </a:lnTo>
                <a:lnTo>
                  <a:pt x="0" y="91053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018855" y="336327"/>
            <a:ext cx="4795123" cy="2881585"/>
          </a:xfrm>
          <a:custGeom>
            <a:avLst/>
            <a:gdLst/>
            <a:ahLst/>
            <a:cxnLst/>
            <a:rect r="r" b="b" t="t" l="l"/>
            <a:pathLst>
              <a:path h="2881585" w="4795123">
                <a:moveTo>
                  <a:pt x="0" y="0"/>
                </a:moveTo>
                <a:lnTo>
                  <a:pt x="4795122" y="0"/>
                </a:lnTo>
                <a:lnTo>
                  <a:pt x="4795122" y="2881585"/>
                </a:lnTo>
                <a:lnTo>
                  <a:pt x="0" y="288158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5056315" y="4147471"/>
            <a:ext cx="5967641" cy="6684791"/>
          </a:xfrm>
          <a:custGeom>
            <a:avLst/>
            <a:gdLst/>
            <a:ahLst/>
            <a:cxnLst/>
            <a:rect r="r" b="b" t="t" l="l"/>
            <a:pathLst>
              <a:path h="6684791" w="5967641">
                <a:moveTo>
                  <a:pt x="0" y="0"/>
                </a:moveTo>
                <a:lnTo>
                  <a:pt x="5967640" y="0"/>
                </a:lnTo>
                <a:lnTo>
                  <a:pt x="5967640" y="6684791"/>
                </a:lnTo>
                <a:lnTo>
                  <a:pt x="0" y="668479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1786381" y="4977304"/>
            <a:ext cx="9729676" cy="7768304"/>
          </a:xfrm>
          <a:custGeom>
            <a:avLst/>
            <a:gdLst/>
            <a:ahLst/>
            <a:cxnLst/>
            <a:rect r="r" b="b" t="t" l="l"/>
            <a:pathLst>
              <a:path h="7768304" w="9729676">
                <a:moveTo>
                  <a:pt x="0" y="0"/>
                </a:moveTo>
                <a:lnTo>
                  <a:pt x="9729676" y="0"/>
                </a:lnTo>
                <a:lnTo>
                  <a:pt x="9729676" y="7768304"/>
                </a:lnTo>
                <a:lnTo>
                  <a:pt x="0" y="776830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15376036" y="6922237"/>
            <a:ext cx="4532057" cy="4644784"/>
          </a:xfrm>
          <a:custGeom>
            <a:avLst/>
            <a:gdLst/>
            <a:ahLst/>
            <a:cxnLst/>
            <a:rect r="r" b="b" t="t" l="l"/>
            <a:pathLst>
              <a:path h="4644784" w="4532057">
                <a:moveTo>
                  <a:pt x="0" y="0"/>
                </a:moveTo>
                <a:lnTo>
                  <a:pt x="4532056" y="0"/>
                </a:lnTo>
                <a:lnTo>
                  <a:pt x="4532056" y="4644784"/>
                </a:lnTo>
                <a:lnTo>
                  <a:pt x="0" y="464478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1802387">
            <a:off x="-2761492" y="-1946766"/>
            <a:ext cx="6142340" cy="5494836"/>
          </a:xfrm>
          <a:custGeom>
            <a:avLst/>
            <a:gdLst/>
            <a:ahLst/>
            <a:cxnLst/>
            <a:rect r="r" b="b" t="t" l="l"/>
            <a:pathLst>
              <a:path h="5494836" w="6142340">
                <a:moveTo>
                  <a:pt x="0" y="0"/>
                </a:moveTo>
                <a:lnTo>
                  <a:pt x="6142340" y="0"/>
                </a:lnTo>
                <a:lnTo>
                  <a:pt x="6142340" y="5494836"/>
                </a:lnTo>
                <a:lnTo>
                  <a:pt x="0" y="5494836"/>
                </a:lnTo>
                <a:lnTo>
                  <a:pt x="0" y="0"/>
                </a:lnTo>
                <a:close/>
              </a:path>
            </a:pathLst>
          </a:custGeom>
          <a:blipFill>
            <a:blip r:embed="rId20">
              <a:alphaModFix amt="50000"/>
            </a:blip>
            <a:stretch>
              <a:fillRect l="0" t="0" r="0" b="0"/>
            </a:stretch>
          </a:blipFill>
        </p:spPr>
      </p:sp>
      <p:sp>
        <p:nvSpPr>
          <p:cNvPr name="Freeform 12" id="12"/>
          <p:cNvSpPr/>
          <p:nvPr/>
        </p:nvSpPr>
        <p:spPr>
          <a:xfrm flipH="false" flipV="false" rot="1802401">
            <a:off x="-3444672" y="7817886"/>
            <a:ext cx="7703998" cy="6891906"/>
          </a:xfrm>
          <a:custGeom>
            <a:avLst/>
            <a:gdLst/>
            <a:ahLst/>
            <a:cxnLst/>
            <a:rect r="r" b="b" t="t" l="l"/>
            <a:pathLst>
              <a:path h="6891906" w="7703998">
                <a:moveTo>
                  <a:pt x="0" y="0"/>
                </a:moveTo>
                <a:lnTo>
                  <a:pt x="7703998" y="0"/>
                </a:lnTo>
                <a:lnTo>
                  <a:pt x="7703998" y="6891906"/>
                </a:lnTo>
                <a:lnTo>
                  <a:pt x="0" y="6891906"/>
                </a:lnTo>
                <a:lnTo>
                  <a:pt x="0" y="0"/>
                </a:lnTo>
                <a:close/>
              </a:path>
            </a:pathLst>
          </a:custGeom>
          <a:blipFill>
            <a:blip r:embed="rId20">
              <a:alphaModFix amt="50000"/>
            </a:blip>
            <a:stretch>
              <a:fillRect l="0" t="0" r="0" b="0"/>
            </a:stretch>
          </a:blipFill>
        </p:spPr>
      </p:sp>
      <p:sp>
        <p:nvSpPr>
          <p:cNvPr name="Freeform 13" id="13"/>
          <p:cNvSpPr/>
          <p:nvPr/>
        </p:nvSpPr>
        <p:spPr>
          <a:xfrm flipH="false" flipV="false" rot="0">
            <a:off x="12471402" y="5143486"/>
            <a:ext cx="7704000" cy="6891906"/>
          </a:xfrm>
          <a:custGeom>
            <a:avLst/>
            <a:gdLst/>
            <a:ahLst/>
            <a:cxnLst/>
            <a:rect r="r" b="b" t="t" l="l"/>
            <a:pathLst>
              <a:path h="6891906" w="7704000">
                <a:moveTo>
                  <a:pt x="0" y="0"/>
                </a:moveTo>
                <a:lnTo>
                  <a:pt x="7704000" y="0"/>
                </a:lnTo>
                <a:lnTo>
                  <a:pt x="7704000" y="6891906"/>
                </a:lnTo>
                <a:lnTo>
                  <a:pt x="0" y="6891906"/>
                </a:lnTo>
                <a:lnTo>
                  <a:pt x="0" y="0"/>
                </a:lnTo>
                <a:close/>
              </a:path>
            </a:pathLst>
          </a:custGeom>
          <a:blipFill>
            <a:blip r:embed="rId20">
              <a:alphaModFix amt="50000"/>
            </a:blip>
            <a:stretch>
              <a:fillRect l="0" t="0" r="0" b="0"/>
            </a:stretch>
          </a:blipFill>
        </p:spPr>
      </p:sp>
      <p:sp>
        <p:nvSpPr>
          <p:cNvPr name="Freeform 14" id="14"/>
          <p:cNvSpPr/>
          <p:nvPr/>
        </p:nvSpPr>
        <p:spPr>
          <a:xfrm flipH="false" flipV="false" rot="0">
            <a:off x="10680702" y="-1748414"/>
            <a:ext cx="7704000" cy="6891906"/>
          </a:xfrm>
          <a:custGeom>
            <a:avLst/>
            <a:gdLst/>
            <a:ahLst/>
            <a:cxnLst/>
            <a:rect r="r" b="b" t="t" l="l"/>
            <a:pathLst>
              <a:path h="6891906" w="7704000">
                <a:moveTo>
                  <a:pt x="0" y="0"/>
                </a:moveTo>
                <a:lnTo>
                  <a:pt x="7704000" y="0"/>
                </a:lnTo>
                <a:lnTo>
                  <a:pt x="7704000" y="6891906"/>
                </a:lnTo>
                <a:lnTo>
                  <a:pt x="0" y="6891906"/>
                </a:lnTo>
                <a:lnTo>
                  <a:pt x="0" y="0"/>
                </a:lnTo>
                <a:close/>
              </a:path>
            </a:pathLst>
          </a:custGeom>
          <a:blipFill>
            <a:blip r:embed="rId20">
              <a:alphaModFix amt="50000"/>
            </a:blip>
            <a:stretch>
              <a:fillRect l="0" t="0" r="0" b="0"/>
            </a:stretch>
          </a:blipFill>
        </p:spPr>
      </p:sp>
      <p:sp>
        <p:nvSpPr>
          <p:cNvPr name="Freeform 15" id="15"/>
          <p:cNvSpPr/>
          <p:nvPr/>
        </p:nvSpPr>
        <p:spPr>
          <a:xfrm flipH="false" flipV="false" rot="0">
            <a:off x="14649450" y="965972"/>
            <a:ext cx="2899174" cy="2502540"/>
          </a:xfrm>
          <a:custGeom>
            <a:avLst/>
            <a:gdLst/>
            <a:ahLst/>
            <a:cxnLst/>
            <a:rect r="r" b="b" t="t" l="l"/>
            <a:pathLst>
              <a:path h="2502540" w="2899174">
                <a:moveTo>
                  <a:pt x="0" y="0"/>
                </a:moveTo>
                <a:lnTo>
                  <a:pt x="2899174" y="0"/>
                </a:lnTo>
                <a:lnTo>
                  <a:pt x="2899174" y="2502540"/>
                </a:lnTo>
                <a:lnTo>
                  <a:pt x="0" y="250254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16" id="16"/>
          <p:cNvGrpSpPr/>
          <p:nvPr/>
        </p:nvGrpSpPr>
        <p:grpSpPr>
          <a:xfrm rot="0">
            <a:off x="7600950" y="3600450"/>
            <a:ext cx="3086100" cy="308610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EB355"/>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2016188" y="2167429"/>
            <a:ext cx="7127814" cy="5553075"/>
          </a:xfrm>
          <a:prstGeom prst="rect">
            <a:avLst/>
          </a:prstGeom>
        </p:spPr>
        <p:txBody>
          <a:bodyPr anchor="t" rtlCol="false" tIns="0" lIns="0" bIns="0" rIns="0">
            <a:spAutoFit/>
          </a:bodyPr>
          <a:lstStyle/>
          <a:p>
            <a:pPr algn="l">
              <a:lnSpc>
                <a:spcPts val="21600"/>
              </a:lnSpc>
            </a:pPr>
            <a:r>
              <a:rPr lang="en-US" b="true" sz="18000">
                <a:solidFill>
                  <a:srgbClr val="3E6949"/>
                </a:solidFill>
                <a:latin typeface="Arimo Bold"/>
                <a:ea typeface="Arimo Bold"/>
                <a:cs typeface="Arimo Bold"/>
                <a:sym typeface="Arimo Bold"/>
              </a:rPr>
              <a:t>Green Store</a:t>
            </a:r>
          </a:p>
        </p:txBody>
      </p:sp>
      <p:sp>
        <p:nvSpPr>
          <p:cNvPr name="TextBox 20" id="20"/>
          <p:cNvSpPr txBox="true"/>
          <p:nvPr/>
        </p:nvSpPr>
        <p:spPr>
          <a:xfrm rot="0">
            <a:off x="14649450" y="1700546"/>
            <a:ext cx="2899174" cy="609600"/>
          </a:xfrm>
          <a:prstGeom prst="rect">
            <a:avLst/>
          </a:prstGeom>
        </p:spPr>
        <p:txBody>
          <a:bodyPr anchor="t" rtlCol="false" tIns="0" lIns="0" bIns="0" rIns="0">
            <a:spAutoFit/>
          </a:bodyPr>
          <a:lstStyle/>
          <a:p>
            <a:pPr algn="ctr">
              <a:lnSpc>
                <a:spcPts val="4799"/>
              </a:lnSpc>
              <a:spcBef>
                <a:spcPct val="0"/>
              </a:spcBef>
            </a:pPr>
            <a:r>
              <a:rPr lang="en-US" sz="3999">
                <a:solidFill>
                  <a:srgbClr val="3E6949"/>
                </a:solidFill>
                <a:latin typeface="Arimo"/>
                <a:ea typeface="Arimo"/>
                <a:cs typeface="Arimo"/>
                <a:sym typeface="Arimo"/>
              </a:rPr>
              <a:t>green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8D9AD"/>
        </a:solidFill>
      </p:bgPr>
    </p:bg>
    <p:spTree>
      <p:nvGrpSpPr>
        <p:cNvPr id="1" name=""/>
        <p:cNvGrpSpPr/>
        <p:nvPr/>
      </p:nvGrpSpPr>
      <p:grpSpPr>
        <a:xfrm>
          <a:off x="0" y="0"/>
          <a:ext cx="0" cy="0"/>
          <a:chOff x="0" y="0"/>
          <a:chExt cx="0" cy="0"/>
        </a:xfrm>
      </p:grpSpPr>
      <p:sp>
        <p:nvSpPr>
          <p:cNvPr name="Freeform 2" id="2"/>
          <p:cNvSpPr/>
          <p:nvPr/>
        </p:nvSpPr>
        <p:spPr>
          <a:xfrm flipH="false" flipV="false" rot="0">
            <a:off x="39516" y="0"/>
            <a:ext cx="18208972" cy="10287002"/>
          </a:xfrm>
          <a:custGeom>
            <a:avLst/>
            <a:gdLst/>
            <a:ahLst/>
            <a:cxnLst/>
            <a:rect r="r" b="b" t="t" l="l"/>
            <a:pathLst>
              <a:path h="10287002" w="18208972">
                <a:moveTo>
                  <a:pt x="0" y="0"/>
                </a:moveTo>
                <a:lnTo>
                  <a:pt x="18208972" y="0"/>
                </a:lnTo>
                <a:lnTo>
                  <a:pt x="18208972" y="10287002"/>
                </a:lnTo>
                <a:lnTo>
                  <a:pt x="0" y="10287002"/>
                </a:lnTo>
                <a:lnTo>
                  <a:pt x="0" y="0"/>
                </a:lnTo>
                <a:close/>
              </a:path>
            </a:pathLst>
          </a:custGeom>
          <a:blipFill>
            <a:blip r:embed="rId3"/>
            <a:stretch>
              <a:fillRect l="0" t="0" r="0" b="0"/>
            </a:stretch>
          </a:blipFill>
        </p:spPr>
      </p:sp>
      <p:sp>
        <p:nvSpPr>
          <p:cNvPr name="Freeform 3" id="3"/>
          <p:cNvSpPr/>
          <p:nvPr/>
        </p:nvSpPr>
        <p:spPr>
          <a:xfrm flipH="false" flipV="false" rot="0">
            <a:off x="-2673300" y="2158476"/>
            <a:ext cx="9341118" cy="9400518"/>
          </a:xfrm>
          <a:custGeom>
            <a:avLst/>
            <a:gdLst/>
            <a:ahLst/>
            <a:cxnLst/>
            <a:rect r="r" b="b" t="t" l="l"/>
            <a:pathLst>
              <a:path h="9400518" w="9341118">
                <a:moveTo>
                  <a:pt x="0" y="0"/>
                </a:moveTo>
                <a:lnTo>
                  <a:pt x="9341118" y="0"/>
                </a:lnTo>
                <a:lnTo>
                  <a:pt x="9341118" y="9400518"/>
                </a:lnTo>
                <a:lnTo>
                  <a:pt x="0" y="94005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97500" y="6751775"/>
            <a:ext cx="2753700" cy="4216425"/>
          </a:xfrm>
          <a:custGeom>
            <a:avLst/>
            <a:gdLst/>
            <a:ahLst/>
            <a:cxnLst/>
            <a:rect r="r" b="b" t="t" l="l"/>
            <a:pathLst>
              <a:path h="4216425" w="2753700">
                <a:moveTo>
                  <a:pt x="0" y="0"/>
                </a:moveTo>
                <a:lnTo>
                  <a:pt x="2753700" y="0"/>
                </a:lnTo>
                <a:lnTo>
                  <a:pt x="2753700" y="4216425"/>
                </a:lnTo>
                <a:lnTo>
                  <a:pt x="0" y="42164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65777" y="-544232"/>
            <a:ext cx="3790614" cy="3886373"/>
          </a:xfrm>
          <a:custGeom>
            <a:avLst/>
            <a:gdLst/>
            <a:ahLst/>
            <a:cxnLst/>
            <a:rect r="r" b="b" t="t" l="l"/>
            <a:pathLst>
              <a:path h="3886373" w="3790614">
                <a:moveTo>
                  <a:pt x="0" y="0"/>
                </a:moveTo>
                <a:lnTo>
                  <a:pt x="3790613" y="0"/>
                </a:lnTo>
                <a:lnTo>
                  <a:pt x="3790613" y="3886372"/>
                </a:lnTo>
                <a:lnTo>
                  <a:pt x="0" y="38863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254417" y="-895712"/>
            <a:ext cx="3772920" cy="3083394"/>
          </a:xfrm>
          <a:custGeom>
            <a:avLst/>
            <a:gdLst/>
            <a:ahLst/>
            <a:cxnLst/>
            <a:rect r="r" b="b" t="t" l="l"/>
            <a:pathLst>
              <a:path h="3083394" w="3772920">
                <a:moveTo>
                  <a:pt x="0" y="0"/>
                </a:moveTo>
                <a:lnTo>
                  <a:pt x="3772920" y="0"/>
                </a:lnTo>
                <a:lnTo>
                  <a:pt x="3772920" y="3083394"/>
                </a:lnTo>
                <a:lnTo>
                  <a:pt x="0" y="30833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045850" y="4788960"/>
            <a:ext cx="7485050" cy="6695990"/>
          </a:xfrm>
          <a:custGeom>
            <a:avLst/>
            <a:gdLst/>
            <a:ahLst/>
            <a:cxnLst/>
            <a:rect r="r" b="b" t="t" l="l"/>
            <a:pathLst>
              <a:path h="6695990" w="7485050">
                <a:moveTo>
                  <a:pt x="0" y="0"/>
                </a:moveTo>
                <a:lnTo>
                  <a:pt x="7485050" y="0"/>
                </a:lnTo>
                <a:lnTo>
                  <a:pt x="7485050" y="6695990"/>
                </a:lnTo>
                <a:lnTo>
                  <a:pt x="0" y="6695990"/>
                </a:lnTo>
                <a:lnTo>
                  <a:pt x="0" y="0"/>
                </a:lnTo>
                <a:close/>
              </a:path>
            </a:pathLst>
          </a:custGeom>
          <a:blipFill>
            <a:blip r:embed="rId12">
              <a:alphaModFix amt="50000"/>
            </a:blip>
            <a:stretch>
              <a:fillRect l="0" t="0" r="0" b="0"/>
            </a:stretch>
          </a:blipFill>
        </p:spPr>
      </p:sp>
      <p:sp>
        <p:nvSpPr>
          <p:cNvPr name="Freeform 8" id="8"/>
          <p:cNvSpPr/>
          <p:nvPr/>
        </p:nvSpPr>
        <p:spPr>
          <a:xfrm flipH="false" flipV="false" rot="0">
            <a:off x="-1137800" y="-883502"/>
            <a:ext cx="7127500" cy="6376150"/>
          </a:xfrm>
          <a:custGeom>
            <a:avLst/>
            <a:gdLst/>
            <a:ahLst/>
            <a:cxnLst/>
            <a:rect r="r" b="b" t="t" l="l"/>
            <a:pathLst>
              <a:path h="6376150" w="7127500">
                <a:moveTo>
                  <a:pt x="0" y="0"/>
                </a:moveTo>
                <a:lnTo>
                  <a:pt x="7127500" y="0"/>
                </a:lnTo>
                <a:lnTo>
                  <a:pt x="7127500" y="6376150"/>
                </a:lnTo>
                <a:lnTo>
                  <a:pt x="0" y="6376150"/>
                </a:lnTo>
                <a:lnTo>
                  <a:pt x="0" y="0"/>
                </a:lnTo>
                <a:close/>
              </a:path>
            </a:pathLst>
          </a:custGeom>
          <a:blipFill>
            <a:blip r:embed="rId12">
              <a:alphaModFix amt="50000"/>
            </a:blip>
            <a:stretch>
              <a:fillRect l="0" t="0" r="0" b="0"/>
            </a:stretch>
          </a:blipFill>
        </p:spPr>
      </p:sp>
      <p:sp>
        <p:nvSpPr>
          <p:cNvPr name="TextBox 9" id="9"/>
          <p:cNvSpPr txBox="true"/>
          <p:nvPr/>
        </p:nvSpPr>
        <p:spPr>
          <a:xfrm rot="0">
            <a:off x="1531425" y="4024600"/>
            <a:ext cx="4816350" cy="2219325"/>
          </a:xfrm>
          <a:prstGeom prst="rect">
            <a:avLst/>
          </a:prstGeom>
        </p:spPr>
        <p:txBody>
          <a:bodyPr anchor="t" rtlCol="false" tIns="0" lIns="0" bIns="0" rIns="0">
            <a:spAutoFit/>
          </a:bodyPr>
          <a:lstStyle/>
          <a:p>
            <a:pPr algn="l">
              <a:lnSpc>
                <a:spcPts val="8640"/>
              </a:lnSpc>
            </a:pPr>
            <a:r>
              <a:rPr lang="en-US" b="true" sz="7200">
                <a:solidFill>
                  <a:srgbClr val="578A36"/>
                </a:solidFill>
                <a:latin typeface="Arimo Bold"/>
                <a:ea typeface="Arimo Bold"/>
                <a:cs typeface="Arimo Bold"/>
                <a:sym typeface="Arimo Bold"/>
              </a:rPr>
              <a:t>Thành viên nhóm</a:t>
            </a:r>
          </a:p>
        </p:txBody>
      </p:sp>
      <p:sp>
        <p:nvSpPr>
          <p:cNvPr name="TextBox 10" id="10"/>
          <p:cNvSpPr txBox="true"/>
          <p:nvPr/>
        </p:nvSpPr>
        <p:spPr>
          <a:xfrm rot="0">
            <a:off x="9337675" y="1133913"/>
            <a:ext cx="5914350" cy="619125"/>
          </a:xfrm>
          <a:prstGeom prst="rect">
            <a:avLst/>
          </a:prstGeom>
        </p:spPr>
        <p:txBody>
          <a:bodyPr anchor="t" rtlCol="false" tIns="0" lIns="0" bIns="0" rIns="0">
            <a:spAutoFit/>
          </a:bodyPr>
          <a:lstStyle/>
          <a:p>
            <a:pPr algn="l">
              <a:lnSpc>
                <a:spcPts val="4800"/>
              </a:lnSpc>
            </a:pPr>
            <a:r>
              <a:rPr lang="en-US" sz="4000">
                <a:solidFill>
                  <a:srgbClr val="578A36"/>
                </a:solidFill>
                <a:latin typeface="Arimo"/>
                <a:ea typeface="Arimo"/>
                <a:cs typeface="Arimo"/>
                <a:sym typeface="Arimo"/>
              </a:rPr>
              <a:t>Nguyễn Quang Vĩnh</a:t>
            </a:r>
          </a:p>
        </p:txBody>
      </p:sp>
      <p:sp>
        <p:nvSpPr>
          <p:cNvPr name="TextBox 11" id="11"/>
          <p:cNvSpPr txBox="true"/>
          <p:nvPr/>
        </p:nvSpPr>
        <p:spPr>
          <a:xfrm rot="0">
            <a:off x="9337675" y="1759229"/>
            <a:ext cx="7409550" cy="447675"/>
          </a:xfrm>
          <a:prstGeom prst="rect">
            <a:avLst/>
          </a:prstGeom>
        </p:spPr>
        <p:txBody>
          <a:bodyPr anchor="t" rtlCol="false" tIns="0" lIns="0" bIns="0" rIns="0">
            <a:spAutoFit/>
          </a:bodyPr>
          <a:lstStyle/>
          <a:p>
            <a:pPr algn="l">
              <a:lnSpc>
                <a:spcPts val="3359"/>
              </a:lnSpc>
            </a:pPr>
            <a:r>
              <a:rPr lang="en-US" sz="2799">
                <a:solidFill>
                  <a:srgbClr val="4E4937"/>
                </a:solidFill>
                <a:latin typeface="Poppins"/>
                <a:ea typeface="Poppins"/>
                <a:cs typeface="Poppins"/>
                <a:sym typeface="Poppins"/>
              </a:rPr>
              <a:t>3123560096</a:t>
            </a:r>
          </a:p>
        </p:txBody>
      </p:sp>
      <p:sp>
        <p:nvSpPr>
          <p:cNvPr name="TextBox 12" id="12"/>
          <p:cNvSpPr txBox="true"/>
          <p:nvPr/>
        </p:nvSpPr>
        <p:spPr>
          <a:xfrm rot="0">
            <a:off x="7391675" y="1056925"/>
            <a:ext cx="1551750" cy="1149975"/>
          </a:xfrm>
          <a:prstGeom prst="rect">
            <a:avLst/>
          </a:prstGeom>
        </p:spPr>
        <p:txBody>
          <a:bodyPr anchor="t" rtlCol="false" tIns="0" lIns="0" bIns="0" rIns="0">
            <a:spAutoFit/>
          </a:bodyPr>
          <a:lstStyle/>
          <a:p>
            <a:pPr algn="r">
              <a:lnSpc>
                <a:spcPts val="8640"/>
              </a:lnSpc>
            </a:pPr>
            <a:r>
              <a:rPr lang="en-US" sz="7200">
                <a:solidFill>
                  <a:srgbClr val="578A36"/>
                </a:solidFill>
                <a:latin typeface="Arimo"/>
                <a:ea typeface="Arimo"/>
                <a:cs typeface="Arimo"/>
                <a:sym typeface="Arimo"/>
              </a:rPr>
              <a:t>01</a:t>
            </a:r>
          </a:p>
        </p:txBody>
      </p:sp>
      <p:sp>
        <p:nvSpPr>
          <p:cNvPr name="TextBox 13" id="13"/>
          <p:cNvSpPr txBox="true"/>
          <p:nvPr/>
        </p:nvSpPr>
        <p:spPr>
          <a:xfrm rot="0">
            <a:off x="9337675" y="2527454"/>
            <a:ext cx="5914350" cy="619125"/>
          </a:xfrm>
          <a:prstGeom prst="rect">
            <a:avLst/>
          </a:prstGeom>
        </p:spPr>
        <p:txBody>
          <a:bodyPr anchor="t" rtlCol="false" tIns="0" lIns="0" bIns="0" rIns="0">
            <a:spAutoFit/>
          </a:bodyPr>
          <a:lstStyle/>
          <a:p>
            <a:pPr algn="l">
              <a:lnSpc>
                <a:spcPts val="4800"/>
              </a:lnSpc>
            </a:pPr>
            <a:r>
              <a:rPr lang="en-US" sz="4000">
                <a:solidFill>
                  <a:srgbClr val="578A36"/>
                </a:solidFill>
                <a:latin typeface="Arimo"/>
                <a:ea typeface="Arimo"/>
                <a:cs typeface="Arimo"/>
                <a:sym typeface="Arimo"/>
              </a:rPr>
              <a:t>Nguyễn Trọng Phúc</a:t>
            </a:r>
          </a:p>
        </p:txBody>
      </p:sp>
      <p:sp>
        <p:nvSpPr>
          <p:cNvPr name="TextBox 14" id="14"/>
          <p:cNvSpPr txBox="true"/>
          <p:nvPr/>
        </p:nvSpPr>
        <p:spPr>
          <a:xfrm rot="0">
            <a:off x="9337675" y="3132709"/>
            <a:ext cx="7409550" cy="447675"/>
          </a:xfrm>
          <a:prstGeom prst="rect">
            <a:avLst/>
          </a:prstGeom>
        </p:spPr>
        <p:txBody>
          <a:bodyPr anchor="t" rtlCol="false" tIns="0" lIns="0" bIns="0" rIns="0">
            <a:spAutoFit/>
          </a:bodyPr>
          <a:lstStyle/>
          <a:p>
            <a:pPr algn="l">
              <a:lnSpc>
                <a:spcPts val="3359"/>
              </a:lnSpc>
            </a:pPr>
            <a:r>
              <a:rPr lang="en-US" sz="2799">
                <a:solidFill>
                  <a:srgbClr val="4E4937"/>
                </a:solidFill>
                <a:latin typeface="Poppins"/>
                <a:ea typeface="Poppins"/>
                <a:cs typeface="Poppins"/>
                <a:sym typeface="Poppins"/>
              </a:rPr>
              <a:t>3123560096</a:t>
            </a:r>
          </a:p>
        </p:txBody>
      </p:sp>
      <p:sp>
        <p:nvSpPr>
          <p:cNvPr name="TextBox 15" id="15"/>
          <p:cNvSpPr txBox="true"/>
          <p:nvPr/>
        </p:nvSpPr>
        <p:spPr>
          <a:xfrm rot="0">
            <a:off x="7391675" y="2470751"/>
            <a:ext cx="1551750" cy="1110975"/>
          </a:xfrm>
          <a:prstGeom prst="rect">
            <a:avLst/>
          </a:prstGeom>
        </p:spPr>
        <p:txBody>
          <a:bodyPr anchor="t" rtlCol="false" tIns="0" lIns="0" bIns="0" rIns="0">
            <a:spAutoFit/>
          </a:bodyPr>
          <a:lstStyle/>
          <a:p>
            <a:pPr algn="r">
              <a:lnSpc>
                <a:spcPts val="8640"/>
              </a:lnSpc>
            </a:pPr>
            <a:r>
              <a:rPr lang="en-US" sz="7200">
                <a:solidFill>
                  <a:srgbClr val="578A36"/>
                </a:solidFill>
                <a:latin typeface="Arimo"/>
                <a:ea typeface="Arimo"/>
                <a:cs typeface="Arimo"/>
                <a:sym typeface="Arimo"/>
              </a:rPr>
              <a:t>02</a:t>
            </a:r>
          </a:p>
        </p:txBody>
      </p:sp>
      <p:sp>
        <p:nvSpPr>
          <p:cNvPr name="TextBox 16" id="16"/>
          <p:cNvSpPr txBox="true"/>
          <p:nvPr/>
        </p:nvSpPr>
        <p:spPr>
          <a:xfrm rot="0">
            <a:off x="9337675" y="3921018"/>
            <a:ext cx="5914350" cy="619125"/>
          </a:xfrm>
          <a:prstGeom prst="rect">
            <a:avLst/>
          </a:prstGeom>
        </p:spPr>
        <p:txBody>
          <a:bodyPr anchor="t" rtlCol="false" tIns="0" lIns="0" bIns="0" rIns="0">
            <a:spAutoFit/>
          </a:bodyPr>
          <a:lstStyle/>
          <a:p>
            <a:pPr algn="l">
              <a:lnSpc>
                <a:spcPts val="4800"/>
              </a:lnSpc>
            </a:pPr>
            <a:r>
              <a:rPr lang="en-US" sz="4000">
                <a:solidFill>
                  <a:srgbClr val="578A36"/>
                </a:solidFill>
                <a:latin typeface="Arimo"/>
                <a:ea typeface="Arimo"/>
                <a:cs typeface="Arimo"/>
                <a:sym typeface="Arimo"/>
              </a:rPr>
              <a:t>Nguyễn Thanh Sang</a:t>
            </a:r>
          </a:p>
        </p:txBody>
      </p:sp>
      <p:sp>
        <p:nvSpPr>
          <p:cNvPr name="TextBox 17" id="17"/>
          <p:cNvSpPr txBox="true"/>
          <p:nvPr/>
        </p:nvSpPr>
        <p:spPr>
          <a:xfrm rot="0">
            <a:off x="9337675" y="4506187"/>
            <a:ext cx="7409550" cy="447675"/>
          </a:xfrm>
          <a:prstGeom prst="rect">
            <a:avLst/>
          </a:prstGeom>
        </p:spPr>
        <p:txBody>
          <a:bodyPr anchor="t" rtlCol="false" tIns="0" lIns="0" bIns="0" rIns="0">
            <a:spAutoFit/>
          </a:bodyPr>
          <a:lstStyle/>
          <a:p>
            <a:pPr algn="l">
              <a:lnSpc>
                <a:spcPts val="3359"/>
              </a:lnSpc>
            </a:pPr>
            <a:r>
              <a:rPr lang="en-US" sz="2799">
                <a:solidFill>
                  <a:srgbClr val="4E4937"/>
                </a:solidFill>
                <a:latin typeface="Poppins"/>
                <a:ea typeface="Poppins"/>
                <a:cs typeface="Poppins"/>
                <a:sym typeface="Poppins"/>
              </a:rPr>
              <a:t>3123560076</a:t>
            </a:r>
          </a:p>
        </p:txBody>
      </p:sp>
      <p:sp>
        <p:nvSpPr>
          <p:cNvPr name="TextBox 18" id="18"/>
          <p:cNvSpPr txBox="true"/>
          <p:nvPr/>
        </p:nvSpPr>
        <p:spPr>
          <a:xfrm rot="0">
            <a:off x="7391675" y="3845577"/>
            <a:ext cx="1551750" cy="1110975"/>
          </a:xfrm>
          <a:prstGeom prst="rect">
            <a:avLst/>
          </a:prstGeom>
        </p:spPr>
        <p:txBody>
          <a:bodyPr anchor="t" rtlCol="false" tIns="0" lIns="0" bIns="0" rIns="0">
            <a:spAutoFit/>
          </a:bodyPr>
          <a:lstStyle/>
          <a:p>
            <a:pPr algn="r">
              <a:lnSpc>
                <a:spcPts val="8640"/>
              </a:lnSpc>
            </a:pPr>
            <a:r>
              <a:rPr lang="en-US" sz="7200">
                <a:solidFill>
                  <a:srgbClr val="578A36"/>
                </a:solidFill>
                <a:latin typeface="Arimo"/>
                <a:ea typeface="Arimo"/>
                <a:cs typeface="Arimo"/>
                <a:sym typeface="Arimo"/>
              </a:rPr>
              <a:t>03</a:t>
            </a:r>
          </a:p>
        </p:txBody>
      </p:sp>
      <p:sp>
        <p:nvSpPr>
          <p:cNvPr name="TextBox 19" id="19"/>
          <p:cNvSpPr txBox="true"/>
          <p:nvPr/>
        </p:nvSpPr>
        <p:spPr>
          <a:xfrm rot="0">
            <a:off x="9337675" y="5314582"/>
            <a:ext cx="5914350" cy="619125"/>
          </a:xfrm>
          <a:prstGeom prst="rect">
            <a:avLst/>
          </a:prstGeom>
        </p:spPr>
        <p:txBody>
          <a:bodyPr anchor="t" rtlCol="false" tIns="0" lIns="0" bIns="0" rIns="0">
            <a:spAutoFit/>
          </a:bodyPr>
          <a:lstStyle/>
          <a:p>
            <a:pPr algn="l">
              <a:lnSpc>
                <a:spcPts val="4800"/>
              </a:lnSpc>
            </a:pPr>
            <a:r>
              <a:rPr lang="en-US" sz="4000">
                <a:solidFill>
                  <a:srgbClr val="578A36"/>
                </a:solidFill>
                <a:latin typeface="Arimo"/>
                <a:ea typeface="Arimo"/>
                <a:cs typeface="Arimo"/>
                <a:sym typeface="Arimo"/>
              </a:rPr>
              <a:t>Nguyễn Hồng Phúc</a:t>
            </a:r>
          </a:p>
        </p:txBody>
      </p:sp>
      <p:sp>
        <p:nvSpPr>
          <p:cNvPr name="TextBox 20" id="20"/>
          <p:cNvSpPr txBox="true"/>
          <p:nvPr/>
        </p:nvSpPr>
        <p:spPr>
          <a:xfrm rot="0">
            <a:off x="9337675" y="5879665"/>
            <a:ext cx="7409550" cy="447675"/>
          </a:xfrm>
          <a:prstGeom prst="rect">
            <a:avLst/>
          </a:prstGeom>
        </p:spPr>
        <p:txBody>
          <a:bodyPr anchor="t" rtlCol="false" tIns="0" lIns="0" bIns="0" rIns="0">
            <a:spAutoFit/>
          </a:bodyPr>
          <a:lstStyle/>
          <a:p>
            <a:pPr algn="l">
              <a:lnSpc>
                <a:spcPts val="3359"/>
              </a:lnSpc>
            </a:pPr>
            <a:r>
              <a:rPr lang="en-US" sz="2799">
                <a:solidFill>
                  <a:srgbClr val="4E4937"/>
                </a:solidFill>
                <a:latin typeface="Poppins"/>
                <a:ea typeface="Poppins"/>
                <a:cs typeface="Poppins"/>
                <a:sym typeface="Poppins"/>
              </a:rPr>
              <a:t>3123560065</a:t>
            </a:r>
          </a:p>
        </p:txBody>
      </p:sp>
      <p:sp>
        <p:nvSpPr>
          <p:cNvPr name="TextBox 21" id="21"/>
          <p:cNvSpPr txBox="true"/>
          <p:nvPr/>
        </p:nvSpPr>
        <p:spPr>
          <a:xfrm rot="0">
            <a:off x="7391675" y="5220403"/>
            <a:ext cx="1551750" cy="1110975"/>
          </a:xfrm>
          <a:prstGeom prst="rect">
            <a:avLst/>
          </a:prstGeom>
        </p:spPr>
        <p:txBody>
          <a:bodyPr anchor="t" rtlCol="false" tIns="0" lIns="0" bIns="0" rIns="0">
            <a:spAutoFit/>
          </a:bodyPr>
          <a:lstStyle/>
          <a:p>
            <a:pPr algn="r">
              <a:lnSpc>
                <a:spcPts val="8640"/>
              </a:lnSpc>
            </a:pPr>
            <a:r>
              <a:rPr lang="en-US" sz="7200">
                <a:solidFill>
                  <a:srgbClr val="578A36"/>
                </a:solidFill>
                <a:latin typeface="Arimo"/>
                <a:ea typeface="Arimo"/>
                <a:cs typeface="Arimo"/>
                <a:sym typeface="Arimo"/>
              </a:rPr>
              <a:t>04</a:t>
            </a:r>
          </a:p>
        </p:txBody>
      </p:sp>
      <p:sp>
        <p:nvSpPr>
          <p:cNvPr name="TextBox 22" id="22"/>
          <p:cNvSpPr txBox="true"/>
          <p:nvPr/>
        </p:nvSpPr>
        <p:spPr>
          <a:xfrm rot="0">
            <a:off x="9337675" y="7253145"/>
            <a:ext cx="7409550" cy="447675"/>
          </a:xfrm>
          <a:prstGeom prst="rect">
            <a:avLst/>
          </a:prstGeom>
        </p:spPr>
        <p:txBody>
          <a:bodyPr anchor="t" rtlCol="false" tIns="0" lIns="0" bIns="0" rIns="0">
            <a:spAutoFit/>
          </a:bodyPr>
          <a:lstStyle/>
          <a:p>
            <a:pPr algn="l">
              <a:lnSpc>
                <a:spcPts val="3359"/>
              </a:lnSpc>
            </a:pPr>
            <a:r>
              <a:rPr lang="en-US" sz="2799">
                <a:solidFill>
                  <a:srgbClr val="4E4937"/>
                </a:solidFill>
                <a:latin typeface="Poppins"/>
                <a:ea typeface="Poppins"/>
                <a:cs typeface="Poppins"/>
                <a:sym typeface="Poppins"/>
              </a:rPr>
              <a:t>3123560079</a:t>
            </a:r>
          </a:p>
        </p:txBody>
      </p:sp>
      <p:sp>
        <p:nvSpPr>
          <p:cNvPr name="TextBox 23" id="23"/>
          <p:cNvSpPr txBox="true"/>
          <p:nvPr/>
        </p:nvSpPr>
        <p:spPr>
          <a:xfrm rot="0">
            <a:off x="7391675" y="6595229"/>
            <a:ext cx="1551750" cy="1149975"/>
          </a:xfrm>
          <a:prstGeom prst="rect">
            <a:avLst/>
          </a:prstGeom>
        </p:spPr>
        <p:txBody>
          <a:bodyPr anchor="t" rtlCol="false" tIns="0" lIns="0" bIns="0" rIns="0">
            <a:spAutoFit/>
          </a:bodyPr>
          <a:lstStyle/>
          <a:p>
            <a:pPr algn="r">
              <a:lnSpc>
                <a:spcPts val="8640"/>
              </a:lnSpc>
            </a:pPr>
            <a:r>
              <a:rPr lang="en-US" sz="7200">
                <a:solidFill>
                  <a:srgbClr val="578A36"/>
                </a:solidFill>
                <a:latin typeface="Arimo"/>
                <a:ea typeface="Arimo"/>
                <a:cs typeface="Arimo"/>
                <a:sym typeface="Arimo"/>
              </a:rPr>
              <a:t>05</a:t>
            </a:r>
          </a:p>
        </p:txBody>
      </p:sp>
      <p:sp>
        <p:nvSpPr>
          <p:cNvPr name="TextBox 24" id="24"/>
          <p:cNvSpPr txBox="true"/>
          <p:nvPr/>
        </p:nvSpPr>
        <p:spPr>
          <a:xfrm rot="0">
            <a:off x="9337675" y="6683356"/>
            <a:ext cx="5914350" cy="619125"/>
          </a:xfrm>
          <a:prstGeom prst="rect">
            <a:avLst/>
          </a:prstGeom>
        </p:spPr>
        <p:txBody>
          <a:bodyPr anchor="t" rtlCol="false" tIns="0" lIns="0" bIns="0" rIns="0">
            <a:spAutoFit/>
          </a:bodyPr>
          <a:lstStyle/>
          <a:p>
            <a:pPr algn="l">
              <a:lnSpc>
                <a:spcPts val="4800"/>
              </a:lnSpc>
            </a:pPr>
            <a:r>
              <a:rPr lang="en-US" sz="4000">
                <a:solidFill>
                  <a:srgbClr val="578A36"/>
                </a:solidFill>
                <a:latin typeface="Arimo"/>
                <a:ea typeface="Arimo"/>
                <a:cs typeface="Arimo"/>
                <a:sym typeface="Arimo"/>
              </a:rPr>
              <a:t>Phan Vĩnh Thái</a:t>
            </a:r>
          </a:p>
        </p:txBody>
      </p:sp>
      <p:sp>
        <p:nvSpPr>
          <p:cNvPr name="TextBox 25" id="25"/>
          <p:cNvSpPr txBox="true"/>
          <p:nvPr/>
        </p:nvSpPr>
        <p:spPr>
          <a:xfrm rot="0">
            <a:off x="9337675" y="8626623"/>
            <a:ext cx="7409550" cy="447675"/>
          </a:xfrm>
          <a:prstGeom prst="rect">
            <a:avLst/>
          </a:prstGeom>
        </p:spPr>
        <p:txBody>
          <a:bodyPr anchor="t" rtlCol="false" tIns="0" lIns="0" bIns="0" rIns="0">
            <a:spAutoFit/>
          </a:bodyPr>
          <a:lstStyle/>
          <a:p>
            <a:pPr algn="l">
              <a:lnSpc>
                <a:spcPts val="3359"/>
              </a:lnSpc>
            </a:pPr>
            <a:r>
              <a:rPr lang="en-US" sz="2799">
                <a:solidFill>
                  <a:srgbClr val="4E4937"/>
                </a:solidFill>
                <a:latin typeface="Poppins"/>
                <a:ea typeface="Poppins"/>
                <a:cs typeface="Poppins"/>
                <a:sym typeface="Poppins"/>
              </a:rPr>
              <a:t>3123560059</a:t>
            </a:r>
          </a:p>
        </p:txBody>
      </p:sp>
      <p:sp>
        <p:nvSpPr>
          <p:cNvPr name="TextBox 26" id="26"/>
          <p:cNvSpPr txBox="true"/>
          <p:nvPr/>
        </p:nvSpPr>
        <p:spPr>
          <a:xfrm rot="0">
            <a:off x="7391675" y="8009055"/>
            <a:ext cx="1551750" cy="1149975"/>
          </a:xfrm>
          <a:prstGeom prst="rect">
            <a:avLst/>
          </a:prstGeom>
        </p:spPr>
        <p:txBody>
          <a:bodyPr anchor="t" rtlCol="false" tIns="0" lIns="0" bIns="0" rIns="0">
            <a:spAutoFit/>
          </a:bodyPr>
          <a:lstStyle/>
          <a:p>
            <a:pPr algn="r">
              <a:lnSpc>
                <a:spcPts val="8640"/>
              </a:lnSpc>
            </a:pPr>
            <a:r>
              <a:rPr lang="en-US" sz="7200">
                <a:solidFill>
                  <a:srgbClr val="578A36"/>
                </a:solidFill>
                <a:latin typeface="Arimo"/>
                <a:ea typeface="Arimo"/>
                <a:cs typeface="Arimo"/>
                <a:sym typeface="Arimo"/>
              </a:rPr>
              <a:t>06</a:t>
            </a:r>
          </a:p>
        </p:txBody>
      </p:sp>
      <p:sp>
        <p:nvSpPr>
          <p:cNvPr name="TextBox 27" id="27"/>
          <p:cNvSpPr txBox="true"/>
          <p:nvPr/>
        </p:nvSpPr>
        <p:spPr>
          <a:xfrm rot="0">
            <a:off x="9337675" y="8101708"/>
            <a:ext cx="5914350" cy="619125"/>
          </a:xfrm>
          <a:prstGeom prst="rect">
            <a:avLst/>
          </a:prstGeom>
        </p:spPr>
        <p:txBody>
          <a:bodyPr anchor="t" rtlCol="false" tIns="0" lIns="0" bIns="0" rIns="0">
            <a:spAutoFit/>
          </a:bodyPr>
          <a:lstStyle/>
          <a:p>
            <a:pPr algn="l">
              <a:lnSpc>
                <a:spcPts val="4800"/>
              </a:lnSpc>
            </a:pPr>
            <a:r>
              <a:rPr lang="en-US" sz="4000">
                <a:solidFill>
                  <a:srgbClr val="578A36"/>
                </a:solidFill>
                <a:latin typeface="Arimo"/>
                <a:ea typeface="Arimo"/>
                <a:cs typeface="Arimo"/>
                <a:sym typeface="Arimo"/>
              </a:rPr>
              <a:t>La Tấn Phát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8D9AD"/>
        </a:solidFill>
      </p:bgPr>
    </p:bg>
    <p:spTree>
      <p:nvGrpSpPr>
        <p:cNvPr id="1" name=""/>
        <p:cNvGrpSpPr/>
        <p:nvPr/>
      </p:nvGrpSpPr>
      <p:grpSpPr>
        <a:xfrm>
          <a:off x="0" y="0"/>
          <a:ext cx="0" cy="0"/>
          <a:chOff x="0" y="0"/>
          <a:chExt cx="0" cy="0"/>
        </a:xfrm>
      </p:grpSpPr>
      <p:sp>
        <p:nvSpPr>
          <p:cNvPr name="Freeform 2" id="2"/>
          <p:cNvSpPr/>
          <p:nvPr/>
        </p:nvSpPr>
        <p:spPr>
          <a:xfrm flipH="false" flipV="false" rot="0">
            <a:off x="39516" y="0"/>
            <a:ext cx="18208972" cy="10287002"/>
          </a:xfrm>
          <a:custGeom>
            <a:avLst/>
            <a:gdLst/>
            <a:ahLst/>
            <a:cxnLst/>
            <a:rect r="r" b="b" t="t" l="l"/>
            <a:pathLst>
              <a:path h="10287002" w="18208972">
                <a:moveTo>
                  <a:pt x="0" y="0"/>
                </a:moveTo>
                <a:lnTo>
                  <a:pt x="18208972" y="0"/>
                </a:lnTo>
                <a:lnTo>
                  <a:pt x="18208972" y="10287002"/>
                </a:lnTo>
                <a:lnTo>
                  <a:pt x="0" y="10287002"/>
                </a:lnTo>
                <a:lnTo>
                  <a:pt x="0" y="0"/>
                </a:lnTo>
                <a:close/>
              </a:path>
            </a:pathLst>
          </a:custGeom>
          <a:blipFill>
            <a:blip r:embed="rId3"/>
            <a:stretch>
              <a:fillRect l="0" t="0" r="0" b="0"/>
            </a:stretch>
          </a:blipFill>
        </p:spPr>
      </p:sp>
      <p:sp>
        <p:nvSpPr>
          <p:cNvPr name="Freeform 3" id="3"/>
          <p:cNvSpPr/>
          <p:nvPr/>
        </p:nvSpPr>
        <p:spPr>
          <a:xfrm flipH="false" flipV="false" rot="0">
            <a:off x="-1417655" y="-1373777"/>
            <a:ext cx="4125534" cy="4139160"/>
          </a:xfrm>
          <a:custGeom>
            <a:avLst/>
            <a:gdLst/>
            <a:ahLst/>
            <a:cxnLst/>
            <a:rect r="r" b="b" t="t" l="l"/>
            <a:pathLst>
              <a:path h="4139160" w="4125534">
                <a:moveTo>
                  <a:pt x="0" y="0"/>
                </a:moveTo>
                <a:lnTo>
                  <a:pt x="4125534" y="0"/>
                </a:lnTo>
                <a:lnTo>
                  <a:pt x="4125534" y="4139160"/>
                </a:lnTo>
                <a:lnTo>
                  <a:pt x="0" y="41391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130908" y="8357349"/>
            <a:ext cx="3243741" cy="3686617"/>
          </a:xfrm>
          <a:custGeom>
            <a:avLst/>
            <a:gdLst/>
            <a:ahLst/>
            <a:cxnLst/>
            <a:rect r="r" b="b" t="t" l="l"/>
            <a:pathLst>
              <a:path h="3686617" w="3243741">
                <a:moveTo>
                  <a:pt x="0" y="0"/>
                </a:moveTo>
                <a:lnTo>
                  <a:pt x="3243741" y="0"/>
                </a:lnTo>
                <a:lnTo>
                  <a:pt x="3243741" y="3686617"/>
                </a:lnTo>
                <a:lnTo>
                  <a:pt x="0" y="36866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265802" y="-979664"/>
            <a:ext cx="3275370" cy="2963274"/>
          </a:xfrm>
          <a:custGeom>
            <a:avLst/>
            <a:gdLst/>
            <a:ahLst/>
            <a:cxnLst/>
            <a:rect r="r" b="b" t="t" l="l"/>
            <a:pathLst>
              <a:path h="2963274" w="3275370">
                <a:moveTo>
                  <a:pt x="0" y="0"/>
                </a:moveTo>
                <a:lnTo>
                  <a:pt x="3275370" y="0"/>
                </a:lnTo>
                <a:lnTo>
                  <a:pt x="3275370" y="2963274"/>
                </a:lnTo>
                <a:lnTo>
                  <a:pt x="0" y="29632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6350966" y="-1321633"/>
            <a:ext cx="3987351" cy="4084175"/>
          </a:xfrm>
          <a:custGeom>
            <a:avLst/>
            <a:gdLst/>
            <a:ahLst/>
            <a:cxnLst/>
            <a:rect r="r" b="b" t="t" l="l"/>
            <a:pathLst>
              <a:path h="4084175" w="3987351">
                <a:moveTo>
                  <a:pt x="0" y="0"/>
                </a:moveTo>
                <a:lnTo>
                  <a:pt x="3987351" y="0"/>
                </a:lnTo>
                <a:lnTo>
                  <a:pt x="3987351" y="4084175"/>
                </a:lnTo>
                <a:lnTo>
                  <a:pt x="0" y="40841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1802387">
            <a:off x="-2761492" y="-1946766"/>
            <a:ext cx="6142340" cy="5494836"/>
          </a:xfrm>
          <a:custGeom>
            <a:avLst/>
            <a:gdLst/>
            <a:ahLst/>
            <a:cxnLst/>
            <a:rect r="r" b="b" t="t" l="l"/>
            <a:pathLst>
              <a:path h="5494836" w="6142340">
                <a:moveTo>
                  <a:pt x="0" y="0"/>
                </a:moveTo>
                <a:lnTo>
                  <a:pt x="6142340" y="0"/>
                </a:lnTo>
                <a:lnTo>
                  <a:pt x="6142340" y="5494836"/>
                </a:lnTo>
                <a:lnTo>
                  <a:pt x="0" y="5494836"/>
                </a:lnTo>
                <a:lnTo>
                  <a:pt x="0" y="0"/>
                </a:lnTo>
                <a:close/>
              </a:path>
            </a:pathLst>
          </a:custGeom>
          <a:blipFill>
            <a:blip r:embed="rId12">
              <a:alphaModFix amt="50000"/>
            </a:blip>
            <a:stretch>
              <a:fillRect l="0" t="0" r="0" b="0"/>
            </a:stretch>
          </a:blipFill>
        </p:spPr>
      </p:sp>
      <p:sp>
        <p:nvSpPr>
          <p:cNvPr name="Freeform 8" id="8"/>
          <p:cNvSpPr/>
          <p:nvPr/>
        </p:nvSpPr>
        <p:spPr>
          <a:xfrm flipH="false" flipV="false" rot="1802387">
            <a:off x="15602708" y="-2197766"/>
            <a:ext cx="6142340" cy="5494836"/>
          </a:xfrm>
          <a:custGeom>
            <a:avLst/>
            <a:gdLst/>
            <a:ahLst/>
            <a:cxnLst/>
            <a:rect r="r" b="b" t="t" l="l"/>
            <a:pathLst>
              <a:path h="5494836" w="6142340">
                <a:moveTo>
                  <a:pt x="0" y="0"/>
                </a:moveTo>
                <a:lnTo>
                  <a:pt x="6142340" y="0"/>
                </a:lnTo>
                <a:lnTo>
                  <a:pt x="6142340" y="5494836"/>
                </a:lnTo>
                <a:lnTo>
                  <a:pt x="0" y="5494836"/>
                </a:lnTo>
                <a:lnTo>
                  <a:pt x="0" y="0"/>
                </a:lnTo>
                <a:close/>
              </a:path>
            </a:pathLst>
          </a:custGeom>
          <a:blipFill>
            <a:blip r:embed="rId12">
              <a:alphaModFix amt="50000"/>
            </a:blip>
            <a:stretch>
              <a:fillRect l="0" t="0" r="0" b="0"/>
            </a:stretch>
          </a:blipFill>
        </p:spPr>
      </p:sp>
      <p:sp>
        <p:nvSpPr>
          <p:cNvPr name="Freeform 9" id="9"/>
          <p:cNvSpPr/>
          <p:nvPr/>
        </p:nvSpPr>
        <p:spPr>
          <a:xfrm flipH="false" flipV="false" rot="1802387">
            <a:off x="15316958" y="8165434"/>
            <a:ext cx="6142340" cy="5494836"/>
          </a:xfrm>
          <a:custGeom>
            <a:avLst/>
            <a:gdLst/>
            <a:ahLst/>
            <a:cxnLst/>
            <a:rect r="r" b="b" t="t" l="l"/>
            <a:pathLst>
              <a:path h="5494836" w="6142340">
                <a:moveTo>
                  <a:pt x="0" y="0"/>
                </a:moveTo>
                <a:lnTo>
                  <a:pt x="6142340" y="0"/>
                </a:lnTo>
                <a:lnTo>
                  <a:pt x="6142340" y="5494836"/>
                </a:lnTo>
                <a:lnTo>
                  <a:pt x="0" y="5494836"/>
                </a:lnTo>
                <a:lnTo>
                  <a:pt x="0" y="0"/>
                </a:lnTo>
                <a:close/>
              </a:path>
            </a:pathLst>
          </a:custGeom>
          <a:blipFill>
            <a:blip r:embed="rId12">
              <a:alphaModFix amt="50000"/>
            </a:blip>
            <a:stretch>
              <a:fillRect l="0" t="0" r="0" b="0"/>
            </a:stretch>
          </a:blipFill>
        </p:spPr>
      </p:sp>
      <p:sp>
        <p:nvSpPr>
          <p:cNvPr name="TextBox 10" id="10"/>
          <p:cNvSpPr txBox="true"/>
          <p:nvPr/>
        </p:nvSpPr>
        <p:spPr>
          <a:xfrm rot="0">
            <a:off x="1219880" y="1945510"/>
            <a:ext cx="13912370" cy="1257300"/>
          </a:xfrm>
          <a:prstGeom prst="rect">
            <a:avLst/>
          </a:prstGeom>
        </p:spPr>
        <p:txBody>
          <a:bodyPr anchor="t" rtlCol="false" tIns="0" lIns="0" bIns="0" rIns="0">
            <a:spAutoFit/>
          </a:bodyPr>
          <a:lstStyle/>
          <a:p>
            <a:pPr algn="l">
              <a:lnSpc>
                <a:spcPts val="9600"/>
              </a:lnSpc>
            </a:pPr>
            <a:r>
              <a:rPr lang="en-US" b="true" sz="8000">
                <a:solidFill>
                  <a:srgbClr val="578A36"/>
                </a:solidFill>
                <a:latin typeface="Arimo Bold"/>
                <a:ea typeface="Arimo Bold"/>
                <a:cs typeface="Arimo Bold"/>
                <a:sym typeface="Arimo Bold"/>
              </a:rPr>
              <a:t>Giới thiệu cơ bản về dự án:</a:t>
            </a:r>
          </a:p>
        </p:txBody>
      </p:sp>
      <p:sp>
        <p:nvSpPr>
          <p:cNvPr name="TextBox 11" id="11"/>
          <p:cNvSpPr txBox="true"/>
          <p:nvPr/>
        </p:nvSpPr>
        <p:spPr>
          <a:xfrm rot="0">
            <a:off x="1450513" y="4194167"/>
            <a:ext cx="15386974" cy="1933575"/>
          </a:xfrm>
          <a:prstGeom prst="rect">
            <a:avLst/>
          </a:prstGeom>
        </p:spPr>
        <p:txBody>
          <a:bodyPr anchor="t" rtlCol="false" tIns="0" lIns="0" bIns="0" rIns="0">
            <a:spAutoFit/>
          </a:bodyPr>
          <a:lstStyle/>
          <a:p>
            <a:pPr algn="l" marL="906780" indent="-453390" lvl="1">
              <a:lnSpc>
                <a:spcPts val="5040"/>
              </a:lnSpc>
              <a:buFont typeface="Arial"/>
              <a:buChar char="•"/>
            </a:pPr>
            <a:r>
              <a:rPr lang="en-US" sz="4200">
                <a:solidFill>
                  <a:srgbClr val="3E6949"/>
                </a:solidFill>
                <a:latin typeface="Arimo"/>
                <a:ea typeface="Arimo"/>
                <a:cs typeface="Arimo"/>
                <a:sym typeface="Arimo"/>
              </a:rPr>
              <a:t>GreenL</a:t>
            </a:r>
            <a:r>
              <a:rPr lang="en-US" sz="4200">
                <a:solidFill>
                  <a:srgbClr val="3E6949"/>
                </a:solidFill>
                <a:latin typeface="Arimo"/>
                <a:ea typeface="Arimo"/>
                <a:cs typeface="Arimo"/>
                <a:sym typeface="Arimo"/>
              </a:rPr>
              <a:t>ife Store là một doanh nghiệp nhỏ chuyên kinh doanh các sản phẩm thân thiện với môi trường nhằm hướng đến lối sống xanh và phát triển bền vững.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8D9A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08972" cy="10287002"/>
          </a:xfrm>
          <a:custGeom>
            <a:avLst/>
            <a:gdLst/>
            <a:ahLst/>
            <a:cxnLst/>
            <a:rect r="r" b="b" t="t" l="l"/>
            <a:pathLst>
              <a:path h="10287002" w="18208972">
                <a:moveTo>
                  <a:pt x="0" y="0"/>
                </a:moveTo>
                <a:lnTo>
                  <a:pt x="18208972" y="0"/>
                </a:lnTo>
                <a:lnTo>
                  <a:pt x="18208972" y="10287002"/>
                </a:lnTo>
                <a:lnTo>
                  <a:pt x="0" y="10287002"/>
                </a:lnTo>
                <a:lnTo>
                  <a:pt x="0" y="0"/>
                </a:lnTo>
                <a:close/>
              </a:path>
            </a:pathLst>
          </a:custGeom>
          <a:blipFill>
            <a:blip r:embed="rId3"/>
            <a:stretch>
              <a:fillRect l="0" t="0" r="0" b="0"/>
            </a:stretch>
          </a:blipFill>
        </p:spPr>
      </p:sp>
      <p:sp>
        <p:nvSpPr>
          <p:cNvPr name="Freeform 3" id="3"/>
          <p:cNvSpPr/>
          <p:nvPr/>
        </p:nvSpPr>
        <p:spPr>
          <a:xfrm flipH="false" flipV="false" rot="0">
            <a:off x="16466198" y="7615411"/>
            <a:ext cx="3126073" cy="3194224"/>
          </a:xfrm>
          <a:custGeom>
            <a:avLst/>
            <a:gdLst/>
            <a:ahLst/>
            <a:cxnLst/>
            <a:rect r="r" b="b" t="t" l="l"/>
            <a:pathLst>
              <a:path h="3194224" w="3126073">
                <a:moveTo>
                  <a:pt x="0" y="0"/>
                </a:moveTo>
                <a:lnTo>
                  <a:pt x="3126073" y="0"/>
                </a:lnTo>
                <a:lnTo>
                  <a:pt x="3126073" y="3194225"/>
                </a:lnTo>
                <a:lnTo>
                  <a:pt x="0" y="31942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19303" y="7876862"/>
            <a:ext cx="3078555" cy="3160091"/>
          </a:xfrm>
          <a:custGeom>
            <a:avLst/>
            <a:gdLst/>
            <a:ahLst/>
            <a:cxnLst/>
            <a:rect r="r" b="b" t="t" l="l"/>
            <a:pathLst>
              <a:path h="3160091" w="3078555">
                <a:moveTo>
                  <a:pt x="0" y="0"/>
                </a:moveTo>
                <a:lnTo>
                  <a:pt x="3078555" y="0"/>
                </a:lnTo>
                <a:lnTo>
                  <a:pt x="3078555" y="3160090"/>
                </a:lnTo>
                <a:lnTo>
                  <a:pt x="0" y="31600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923318" y="-809604"/>
            <a:ext cx="3554338" cy="3640646"/>
          </a:xfrm>
          <a:custGeom>
            <a:avLst/>
            <a:gdLst/>
            <a:ahLst/>
            <a:cxnLst/>
            <a:rect r="r" b="b" t="t" l="l"/>
            <a:pathLst>
              <a:path h="3640646" w="3554338">
                <a:moveTo>
                  <a:pt x="0" y="0"/>
                </a:moveTo>
                <a:lnTo>
                  <a:pt x="3554338" y="0"/>
                </a:lnTo>
                <a:lnTo>
                  <a:pt x="3554338" y="3640646"/>
                </a:lnTo>
                <a:lnTo>
                  <a:pt x="0" y="36406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6310159" y="-781531"/>
            <a:ext cx="4183490" cy="2417469"/>
          </a:xfrm>
          <a:custGeom>
            <a:avLst/>
            <a:gdLst/>
            <a:ahLst/>
            <a:cxnLst/>
            <a:rect r="r" b="b" t="t" l="l"/>
            <a:pathLst>
              <a:path h="2417469" w="4183490">
                <a:moveTo>
                  <a:pt x="0" y="0"/>
                </a:moveTo>
                <a:lnTo>
                  <a:pt x="4183491" y="0"/>
                </a:lnTo>
                <a:lnTo>
                  <a:pt x="4183491" y="2417469"/>
                </a:lnTo>
                <a:lnTo>
                  <a:pt x="0" y="24174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3459800" y="-599550"/>
            <a:ext cx="10584616" cy="11877284"/>
          </a:xfrm>
          <a:custGeom>
            <a:avLst/>
            <a:gdLst/>
            <a:ahLst/>
            <a:cxnLst/>
            <a:rect r="r" b="b" t="t" l="l"/>
            <a:pathLst>
              <a:path h="11877284" w="10584616">
                <a:moveTo>
                  <a:pt x="0" y="0"/>
                </a:moveTo>
                <a:lnTo>
                  <a:pt x="10584616" y="0"/>
                </a:lnTo>
                <a:lnTo>
                  <a:pt x="10584616" y="11877284"/>
                </a:lnTo>
                <a:lnTo>
                  <a:pt x="0" y="1187728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5064850" y="-1930148"/>
            <a:ext cx="5322256" cy="4761200"/>
          </a:xfrm>
          <a:custGeom>
            <a:avLst/>
            <a:gdLst/>
            <a:ahLst/>
            <a:cxnLst/>
            <a:rect r="r" b="b" t="t" l="l"/>
            <a:pathLst>
              <a:path h="4761200" w="5322256">
                <a:moveTo>
                  <a:pt x="0" y="0"/>
                </a:moveTo>
                <a:lnTo>
                  <a:pt x="5322256" y="0"/>
                </a:lnTo>
                <a:lnTo>
                  <a:pt x="5322256" y="4761200"/>
                </a:lnTo>
                <a:lnTo>
                  <a:pt x="0" y="4761200"/>
                </a:lnTo>
                <a:lnTo>
                  <a:pt x="0" y="0"/>
                </a:lnTo>
                <a:close/>
              </a:path>
            </a:pathLst>
          </a:custGeom>
          <a:blipFill>
            <a:blip r:embed="rId14">
              <a:alphaModFix amt="50000"/>
            </a:blip>
            <a:stretch>
              <a:fillRect l="0" t="0" r="0" b="0"/>
            </a:stretch>
          </a:blipFill>
        </p:spPr>
      </p:sp>
      <p:sp>
        <p:nvSpPr>
          <p:cNvPr name="Freeform 9" id="9"/>
          <p:cNvSpPr/>
          <p:nvPr/>
        </p:nvSpPr>
        <p:spPr>
          <a:xfrm flipH="false" flipV="false" rot="0">
            <a:off x="15064850" y="6950552"/>
            <a:ext cx="5322256" cy="4761200"/>
          </a:xfrm>
          <a:custGeom>
            <a:avLst/>
            <a:gdLst/>
            <a:ahLst/>
            <a:cxnLst/>
            <a:rect r="r" b="b" t="t" l="l"/>
            <a:pathLst>
              <a:path h="4761200" w="5322256">
                <a:moveTo>
                  <a:pt x="0" y="0"/>
                </a:moveTo>
                <a:lnTo>
                  <a:pt x="5322256" y="0"/>
                </a:lnTo>
                <a:lnTo>
                  <a:pt x="5322256" y="4761200"/>
                </a:lnTo>
                <a:lnTo>
                  <a:pt x="0" y="4761200"/>
                </a:lnTo>
                <a:lnTo>
                  <a:pt x="0" y="0"/>
                </a:lnTo>
                <a:close/>
              </a:path>
            </a:pathLst>
          </a:custGeom>
          <a:blipFill>
            <a:blip r:embed="rId14">
              <a:alphaModFix amt="50000"/>
            </a:blip>
            <a:stretch>
              <a:fillRect l="0" t="0" r="0" b="0"/>
            </a:stretch>
          </a:blipFill>
        </p:spPr>
      </p:sp>
      <p:sp>
        <p:nvSpPr>
          <p:cNvPr name="Freeform 10" id="10"/>
          <p:cNvSpPr/>
          <p:nvPr/>
        </p:nvSpPr>
        <p:spPr>
          <a:xfrm flipH="false" flipV="false" rot="0">
            <a:off x="-526400" y="5015760"/>
            <a:ext cx="7485050" cy="6695990"/>
          </a:xfrm>
          <a:custGeom>
            <a:avLst/>
            <a:gdLst/>
            <a:ahLst/>
            <a:cxnLst/>
            <a:rect r="r" b="b" t="t" l="l"/>
            <a:pathLst>
              <a:path h="6695990" w="7485050">
                <a:moveTo>
                  <a:pt x="0" y="0"/>
                </a:moveTo>
                <a:lnTo>
                  <a:pt x="7485050" y="0"/>
                </a:lnTo>
                <a:lnTo>
                  <a:pt x="7485050" y="6695990"/>
                </a:lnTo>
                <a:lnTo>
                  <a:pt x="0" y="6695990"/>
                </a:lnTo>
                <a:lnTo>
                  <a:pt x="0" y="0"/>
                </a:lnTo>
                <a:close/>
              </a:path>
            </a:pathLst>
          </a:custGeom>
          <a:blipFill>
            <a:blip r:embed="rId14">
              <a:alphaModFix amt="50000"/>
            </a:blip>
            <a:stretch>
              <a:fillRect l="0" t="0" r="0" b="0"/>
            </a:stretch>
          </a:blipFill>
        </p:spPr>
      </p:sp>
      <p:sp>
        <p:nvSpPr>
          <p:cNvPr name="Freeform 11" id="11"/>
          <p:cNvSpPr/>
          <p:nvPr/>
        </p:nvSpPr>
        <p:spPr>
          <a:xfrm flipH="false" flipV="false" rot="0">
            <a:off x="-526400" y="-1651240"/>
            <a:ext cx="7485050" cy="6695990"/>
          </a:xfrm>
          <a:custGeom>
            <a:avLst/>
            <a:gdLst/>
            <a:ahLst/>
            <a:cxnLst/>
            <a:rect r="r" b="b" t="t" l="l"/>
            <a:pathLst>
              <a:path h="6695990" w="7485050">
                <a:moveTo>
                  <a:pt x="0" y="0"/>
                </a:moveTo>
                <a:lnTo>
                  <a:pt x="7485050" y="0"/>
                </a:lnTo>
                <a:lnTo>
                  <a:pt x="7485050" y="6695990"/>
                </a:lnTo>
                <a:lnTo>
                  <a:pt x="0" y="6695990"/>
                </a:lnTo>
                <a:lnTo>
                  <a:pt x="0" y="0"/>
                </a:lnTo>
                <a:close/>
              </a:path>
            </a:pathLst>
          </a:custGeom>
          <a:blipFill>
            <a:blip r:embed="rId14">
              <a:alphaModFix amt="50000"/>
            </a:blip>
            <a:stretch>
              <a:fillRect l="0" t="0" r="0" b="0"/>
            </a:stretch>
          </a:blipFill>
        </p:spPr>
      </p:sp>
      <p:sp>
        <p:nvSpPr>
          <p:cNvPr name="TextBox 12" id="12"/>
          <p:cNvSpPr txBox="true"/>
          <p:nvPr/>
        </p:nvSpPr>
        <p:spPr>
          <a:xfrm rot="0">
            <a:off x="8561857" y="2367292"/>
            <a:ext cx="9138630" cy="5924550"/>
          </a:xfrm>
          <a:prstGeom prst="rect">
            <a:avLst/>
          </a:prstGeom>
        </p:spPr>
        <p:txBody>
          <a:bodyPr anchor="t" rtlCol="false" tIns="0" lIns="0" bIns="0" rIns="0">
            <a:spAutoFit/>
          </a:bodyPr>
          <a:lstStyle/>
          <a:p>
            <a:pPr algn="l" marL="842551" indent="-421275" lvl="1">
              <a:lnSpc>
                <a:spcPts val="4683"/>
              </a:lnSpc>
              <a:buFont typeface="Arial"/>
              <a:buChar char="•"/>
            </a:pPr>
            <a:r>
              <a:rPr lang="en-US" b="true" sz="3902">
                <a:solidFill>
                  <a:srgbClr val="1E3D28"/>
                </a:solidFill>
                <a:latin typeface="Arimo Bold"/>
                <a:ea typeface="Arimo Bold"/>
                <a:cs typeface="Arimo Bold"/>
                <a:sym typeface="Arimo Bold"/>
              </a:rPr>
              <a:t>Hiện tại, GreenLife chủ yếu bán hàng trực tiếp và qua mạng xã hội, gặp nhiều hạn chế trong việc quản lý đơn hàng, thanh toán và mở rộng thị trường. </a:t>
            </a:r>
          </a:p>
          <a:p>
            <a:pPr algn="l" marL="842551" indent="-421275" lvl="1">
              <a:lnSpc>
                <a:spcPts val="4683"/>
              </a:lnSpc>
              <a:buFont typeface="Arial"/>
              <a:buChar char="•"/>
            </a:pPr>
            <a:r>
              <a:rPr lang="en-US" b="true" sz="3902">
                <a:solidFill>
                  <a:srgbClr val="1E3D28"/>
                </a:solidFill>
                <a:latin typeface="Arimo Bold"/>
                <a:ea typeface="Arimo Bold"/>
                <a:cs typeface="Arimo Bold"/>
                <a:sym typeface="Arimo Bold"/>
              </a:rPr>
              <a:t>Doanh nghiệp mong muốn xây dựng một website thương mại điện tử hoàn chỉnh để bán hàng trực tuyến trên phạm vi toàn quốc.</a:t>
            </a:r>
          </a:p>
          <a:p>
            <a:pPr algn="ctr">
              <a:lnSpc>
                <a:spcPts val="4683"/>
              </a:lnSpc>
            </a:pPr>
          </a:p>
        </p:txBody>
      </p:sp>
      <p:sp>
        <p:nvSpPr>
          <p:cNvPr name="Freeform 13" id="13"/>
          <p:cNvSpPr/>
          <p:nvPr/>
        </p:nvSpPr>
        <p:spPr>
          <a:xfrm flipH="false" flipV="false" rot="0">
            <a:off x="1439908" y="1079960"/>
            <a:ext cx="7169656" cy="8002484"/>
          </a:xfrm>
          <a:custGeom>
            <a:avLst/>
            <a:gdLst/>
            <a:ahLst/>
            <a:cxnLst/>
            <a:rect r="r" b="b" t="t" l="l"/>
            <a:pathLst>
              <a:path h="8002484" w="7169656">
                <a:moveTo>
                  <a:pt x="0" y="0"/>
                </a:moveTo>
                <a:lnTo>
                  <a:pt x="7169656" y="0"/>
                </a:lnTo>
                <a:lnTo>
                  <a:pt x="7169656" y="8002484"/>
                </a:lnTo>
                <a:lnTo>
                  <a:pt x="0" y="80024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4" id="14"/>
          <p:cNvSpPr/>
          <p:nvPr/>
        </p:nvSpPr>
        <p:spPr>
          <a:xfrm flipH="false" flipV="false" rot="0">
            <a:off x="-4001620" y="-750729"/>
            <a:ext cx="13401473" cy="14007535"/>
          </a:xfrm>
          <a:custGeom>
            <a:avLst/>
            <a:gdLst/>
            <a:ahLst/>
            <a:cxnLst/>
            <a:rect r="r" b="b" t="t" l="l"/>
            <a:pathLst>
              <a:path h="14007535" w="13401473">
                <a:moveTo>
                  <a:pt x="0" y="0"/>
                </a:moveTo>
                <a:lnTo>
                  <a:pt x="13401474" y="0"/>
                </a:lnTo>
                <a:lnTo>
                  <a:pt x="13401474" y="14007534"/>
                </a:lnTo>
                <a:lnTo>
                  <a:pt x="0" y="1400753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8D9AD"/>
        </a:solidFill>
      </p:bgPr>
    </p:bg>
    <p:spTree>
      <p:nvGrpSpPr>
        <p:cNvPr id="1" name=""/>
        <p:cNvGrpSpPr/>
        <p:nvPr/>
      </p:nvGrpSpPr>
      <p:grpSpPr>
        <a:xfrm>
          <a:off x="0" y="0"/>
          <a:ext cx="0" cy="0"/>
          <a:chOff x="0" y="0"/>
          <a:chExt cx="0" cy="0"/>
        </a:xfrm>
      </p:grpSpPr>
      <p:sp>
        <p:nvSpPr>
          <p:cNvPr name="Freeform 2" id="2"/>
          <p:cNvSpPr/>
          <p:nvPr/>
        </p:nvSpPr>
        <p:spPr>
          <a:xfrm flipH="false" flipV="false" rot="0">
            <a:off x="39516" y="0"/>
            <a:ext cx="18208972" cy="10287002"/>
          </a:xfrm>
          <a:custGeom>
            <a:avLst/>
            <a:gdLst/>
            <a:ahLst/>
            <a:cxnLst/>
            <a:rect r="r" b="b" t="t" l="l"/>
            <a:pathLst>
              <a:path h="10287002" w="18208972">
                <a:moveTo>
                  <a:pt x="0" y="0"/>
                </a:moveTo>
                <a:lnTo>
                  <a:pt x="18208972" y="0"/>
                </a:lnTo>
                <a:lnTo>
                  <a:pt x="18208972" y="10287002"/>
                </a:lnTo>
                <a:lnTo>
                  <a:pt x="0" y="10287002"/>
                </a:lnTo>
                <a:lnTo>
                  <a:pt x="0" y="0"/>
                </a:lnTo>
                <a:close/>
              </a:path>
            </a:pathLst>
          </a:custGeom>
          <a:blipFill>
            <a:blip r:embed="rId3"/>
            <a:stretch>
              <a:fillRect l="0" t="0" r="0" b="0"/>
            </a:stretch>
          </a:blipFill>
        </p:spPr>
      </p:sp>
      <p:sp>
        <p:nvSpPr>
          <p:cNvPr name="Freeform 3" id="3"/>
          <p:cNvSpPr/>
          <p:nvPr/>
        </p:nvSpPr>
        <p:spPr>
          <a:xfrm flipH="false" flipV="false" rot="0">
            <a:off x="10313251" y="-2451155"/>
            <a:ext cx="15044895" cy="15850563"/>
          </a:xfrm>
          <a:custGeom>
            <a:avLst/>
            <a:gdLst/>
            <a:ahLst/>
            <a:cxnLst/>
            <a:rect r="r" b="b" t="t" l="l"/>
            <a:pathLst>
              <a:path h="15850563" w="15044895">
                <a:moveTo>
                  <a:pt x="0" y="0"/>
                </a:moveTo>
                <a:lnTo>
                  <a:pt x="15044896" y="0"/>
                </a:lnTo>
                <a:lnTo>
                  <a:pt x="15044896" y="15850562"/>
                </a:lnTo>
                <a:lnTo>
                  <a:pt x="0" y="158505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73469" y="-1050721"/>
            <a:ext cx="3500312" cy="5206059"/>
          </a:xfrm>
          <a:custGeom>
            <a:avLst/>
            <a:gdLst/>
            <a:ahLst/>
            <a:cxnLst/>
            <a:rect r="r" b="b" t="t" l="l"/>
            <a:pathLst>
              <a:path h="5206059" w="3500312">
                <a:moveTo>
                  <a:pt x="0" y="0"/>
                </a:moveTo>
                <a:lnTo>
                  <a:pt x="3500312" y="0"/>
                </a:lnTo>
                <a:lnTo>
                  <a:pt x="3500312" y="5206059"/>
                </a:lnTo>
                <a:lnTo>
                  <a:pt x="0" y="52060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841307" y="6528353"/>
            <a:ext cx="3379191" cy="4893408"/>
          </a:xfrm>
          <a:custGeom>
            <a:avLst/>
            <a:gdLst/>
            <a:ahLst/>
            <a:cxnLst/>
            <a:rect r="r" b="b" t="t" l="l"/>
            <a:pathLst>
              <a:path h="4893408" w="3379191">
                <a:moveTo>
                  <a:pt x="0" y="0"/>
                </a:moveTo>
                <a:lnTo>
                  <a:pt x="3379191" y="0"/>
                </a:lnTo>
                <a:lnTo>
                  <a:pt x="3379191" y="4893408"/>
                </a:lnTo>
                <a:lnTo>
                  <a:pt x="0" y="48934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6777828" y="3765540"/>
            <a:ext cx="3970258" cy="3568523"/>
          </a:xfrm>
          <a:custGeom>
            <a:avLst/>
            <a:gdLst/>
            <a:ahLst/>
            <a:cxnLst/>
            <a:rect r="r" b="b" t="t" l="l"/>
            <a:pathLst>
              <a:path h="3568523" w="3970258">
                <a:moveTo>
                  <a:pt x="0" y="0"/>
                </a:moveTo>
                <a:lnTo>
                  <a:pt x="3970258" y="0"/>
                </a:lnTo>
                <a:lnTo>
                  <a:pt x="3970258" y="3568523"/>
                </a:lnTo>
                <a:lnTo>
                  <a:pt x="0" y="356852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6286826" y="3462777"/>
            <a:ext cx="3774787" cy="1907039"/>
          </a:xfrm>
          <a:custGeom>
            <a:avLst/>
            <a:gdLst/>
            <a:ahLst/>
            <a:cxnLst/>
            <a:rect r="r" b="b" t="t" l="l"/>
            <a:pathLst>
              <a:path h="1907039" w="3774787">
                <a:moveTo>
                  <a:pt x="0" y="0"/>
                </a:moveTo>
                <a:lnTo>
                  <a:pt x="3774786" y="0"/>
                </a:lnTo>
                <a:lnTo>
                  <a:pt x="3774786" y="1907040"/>
                </a:lnTo>
                <a:lnTo>
                  <a:pt x="0" y="190704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4249371" y="-3700690"/>
            <a:ext cx="8154208" cy="6606115"/>
          </a:xfrm>
          <a:custGeom>
            <a:avLst/>
            <a:gdLst/>
            <a:ahLst/>
            <a:cxnLst/>
            <a:rect r="r" b="b" t="t" l="l"/>
            <a:pathLst>
              <a:path h="6606115" w="8154208">
                <a:moveTo>
                  <a:pt x="0" y="0"/>
                </a:moveTo>
                <a:lnTo>
                  <a:pt x="8154209" y="0"/>
                </a:lnTo>
                <a:lnTo>
                  <a:pt x="8154209" y="6606115"/>
                </a:lnTo>
                <a:lnTo>
                  <a:pt x="0" y="660611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4998581" y="6890854"/>
            <a:ext cx="5422961" cy="5370296"/>
          </a:xfrm>
          <a:custGeom>
            <a:avLst/>
            <a:gdLst/>
            <a:ahLst/>
            <a:cxnLst/>
            <a:rect r="r" b="b" t="t" l="l"/>
            <a:pathLst>
              <a:path h="5370296" w="5422961">
                <a:moveTo>
                  <a:pt x="0" y="0"/>
                </a:moveTo>
                <a:lnTo>
                  <a:pt x="5422960" y="0"/>
                </a:lnTo>
                <a:lnTo>
                  <a:pt x="5422960" y="5370296"/>
                </a:lnTo>
                <a:lnTo>
                  <a:pt x="0" y="537029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12890502" y="-1752614"/>
            <a:ext cx="7704000" cy="6891906"/>
          </a:xfrm>
          <a:custGeom>
            <a:avLst/>
            <a:gdLst/>
            <a:ahLst/>
            <a:cxnLst/>
            <a:rect r="r" b="b" t="t" l="l"/>
            <a:pathLst>
              <a:path h="6891906" w="7704000">
                <a:moveTo>
                  <a:pt x="0" y="0"/>
                </a:moveTo>
                <a:lnTo>
                  <a:pt x="7704000" y="0"/>
                </a:lnTo>
                <a:lnTo>
                  <a:pt x="7704000" y="6891906"/>
                </a:lnTo>
                <a:lnTo>
                  <a:pt x="0" y="6891906"/>
                </a:lnTo>
                <a:lnTo>
                  <a:pt x="0" y="0"/>
                </a:lnTo>
                <a:close/>
              </a:path>
            </a:pathLst>
          </a:custGeom>
          <a:blipFill>
            <a:blip r:embed="rId18">
              <a:alphaModFix amt="50000"/>
            </a:blip>
            <a:stretch>
              <a:fillRect l="0" t="0" r="0" b="0"/>
            </a:stretch>
          </a:blipFill>
        </p:spPr>
      </p:sp>
      <p:sp>
        <p:nvSpPr>
          <p:cNvPr name="Freeform 11" id="11"/>
          <p:cNvSpPr/>
          <p:nvPr/>
        </p:nvSpPr>
        <p:spPr>
          <a:xfrm flipH="false" flipV="false" rot="0">
            <a:off x="13766802" y="5139286"/>
            <a:ext cx="7704000" cy="6891906"/>
          </a:xfrm>
          <a:custGeom>
            <a:avLst/>
            <a:gdLst/>
            <a:ahLst/>
            <a:cxnLst/>
            <a:rect r="r" b="b" t="t" l="l"/>
            <a:pathLst>
              <a:path h="6891906" w="7704000">
                <a:moveTo>
                  <a:pt x="0" y="0"/>
                </a:moveTo>
                <a:lnTo>
                  <a:pt x="7704000" y="0"/>
                </a:lnTo>
                <a:lnTo>
                  <a:pt x="7704000" y="6891906"/>
                </a:lnTo>
                <a:lnTo>
                  <a:pt x="0" y="6891906"/>
                </a:lnTo>
                <a:lnTo>
                  <a:pt x="0" y="0"/>
                </a:lnTo>
                <a:close/>
              </a:path>
            </a:pathLst>
          </a:custGeom>
          <a:blipFill>
            <a:blip r:embed="rId18">
              <a:alphaModFix amt="50000"/>
            </a:blip>
            <a:stretch>
              <a:fillRect l="0" t="0" r="0" b="0"/>
            </a:stretch>
          </a:blipFill>
        </p:spPr>
      </p:sp>
      <p:sp>
        <p:nvSpPr>
          <p:cNvPr name="TextBox 12" id="12"/>
          <p:cNvSpPr txBox="true"/>
          <p:nvPr/>
        </p:nvSpPr>
        <p:spPr>
          <a:xfrm rot="0">
            <a:off x="1028700" y="1037959"/>
            <a:ext cx="10893611" cy="1065885"/>
          </a:xfrm>
          <a:prstGeom prst="rect">
            <a:avLst/>
          </a:prstGeom>
        </p:spPr>
        <p:txBody>
          <a:bodyPr anchor="t" rtlCol="false" tIns="0" lIns="0" bIns="0" rIns="0">
            <a:spAutoFit/>
          </a:bodyPr>
          <a:lstStyle/>
          <a:p>
            <a:pPr algn="l">
              <a:lnSpc>
                <a:spcPts val="8199"/>
              </a:lnSpc>
            </a:pPr>
            <a:r>
              <a:rPr lang="en-US" b="true" sz="6833">
                <a:solidFill>
                  <a:srgbClr val="578A36"/>
                </a:solidFill>
                <a:latin typeface="Arimo Bold"/>
                <a:ea typeface="Arimo Bold"/>
                <a:cs typeface="Arimo Bold"/>
                <a:sym typeface="Arimo Bold"/>
              </a:rPr>
              <a:t>Công nghệ được sử dụng</a:t>
            </a:r>
          </a:p>
        </p:txBody>
      </p:sp>
      <p:sp>
        <p:nvSpPr>
          <p:cNvPr name="TextBox 13" id="13"/>
          <p:cNvSpPr txBox="true"/>
          <p:nvPr/>
        </p:nvSpPr>
        <p:spPr>
          <a:xfrm rot="0">
            <a:off x="3057391" y="2317883"/>
            <a:ext cx="5783653" cy="1838325"/>
          </a:xfrm>
          <a:prstGeom prst="rect">
            <a:avLst/>
          </a:prstGeom>
        </p:spPr>
        <p:txBody>
          <a:bodyPr anchor="t" rtlCol="false" tIns="0" lIns="0" bIns="0" rIns="0">
            <a:spAutoFit/>
          </a:bodyPr>
          <a:lstStyle/>
          <a:p>
            <a:pPr algn="l">
              <a:lnSpc>
                <a:spcPts val="4799"/>
              </a:lnSpc>
            </a:pPr>
            <a:r>
              <a:rPr lang="en-US" sz="3999" b="true">
                <a:solidFill>
                  <a:srgbClr val="4E4937"/>
                </a:solidFill>
                <a:latin typeface="Poppins Bold"/>
                <a:ea typeface="Poppins Bold"/>
                <a:cs typeface="Poppins Bold"/>
                <a:sym typeface="Poppins Bold"/>
              </a:rPr>
              <a:t>Backend: </a:t>
            </a:r>
          </a:p>
          <a:p>
            <a:pPr algn="l" marL="863599" indent="-431800" lvl="1">
              <a:lnSpc>
                <a:spcPts val="4799"/>
              </a:lnSpc>
              <a:buFont typeface="Arial"/>
              <a:buChar char="•"/>
            </a:pPr>
            <a:r>
              <a:rPr lang="en-US" sz="3999">
                <a:solidFill>
                  <a:srgbClr val="4E4937"/>
                </a:solidFill>
                <a:latin typeface="Poppins"/>
                <a:ea typeface="Poppins"/>
                <a:cs typeface="Poppins"/>
                <a:sym typeface="Poppins"/>
              </a:rPr>
              <a:t>PHP</a:t>
            </a:r>
          </a:p>
          <a:p>
            <a:pPr algn="l" marL="863599" indent="-431800" lvl="1">
              <a:lnSpc>
                <a:spcPts val="4799"/>
              </a:lnSpc>
              <a:buFont typeface="Arial"/>
              <a:buChar char="•"/>
            </a:pPr>
            <a:r>
              <a:rPr lang="en-US" sz="3999">
                <a:solidFill>
                  <a:srgbClr val="4E4937"/>
                </a:solidFill>
                <a:latin typeface="Poppins"/>
                <a:ea typeface="Poppins"/>
                <a:cs typeface="Poppins"/>
                <a:sym typeface="Poppins"/>
              </a:rPr>
              <a:t>Laravel Framework</a:t>
            </a:r>
          </a:p>
        </p:txBody>
      </p:sp>
      <p:sp>
        <p:nvSpPr>
          <p:cNvPr name="Freeform 14" id="14"/>
          <p:cNvSpPr/>
          <p:nvPr/>
        </p:nvSpPr>
        <p:spPr>
          <a:xfrm flipH="false" flipV="false" rot="0">
            <a:off x="10636866" y="2568278"/>
            <a:ext cx="4159726" cy="6171360"/>
          </a:xfrm>
          <a:custGeom>
            <a:avLst/>
            <a:gdLst/>
            <a:ahLst/>
            <a:cxnLst/>
            <a:rect r="r" b="b" t="t" l="l"/>
            <a:pathLst>
              <a:path h="6171360" w="4159726">
                <a:moveTo>
                  <a:pt x="0" y="0"/>
                </a:moveTo>
                <a:lnTo>
                  <a:pt x="4159726" y="0"/>
                </a:lnTo>
                <a:lnTo>
                  <a:pt x="4159726" y="6171360"/>
                </a:lnTo>
                <a:lnTo>
                  <a:pt x="0" y="617136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5" id="15"/>
          <p:cNvSpPr/>
          <p:nvPr/>
        </p:nvSpPr>
        <p:spPr>
          <a:xfrm flipH="false" flipV="false" rot="0">
            <a:off x="9041070" y="-1104042"/>
            <a:ext cx="11930074" cy="12918614"/>
          </a:xfrm>
          <a:custGeom>
            <a:avLst/>
            <a:gdLst/>
            <a:ahLst/>
            <a:cxnLst/>
            <a:rect r="r" b="b" t="t" l="l"/>
            <a:pathLst>
              <a:path h="12918614" w="11930074">
                <a:moveTo>
                  <a:pt x="0" y="0"/>
                </a:moveTo>
                <a:lnTo>
                  <a:pt x="11930074" y="0"/>
                </a:lnTo>
                <a:lnTo>
                  <a:pt x="11930074" y="12918614"/>
                </a:lnTo>
                <a:lnTo>
                  <a:pt x="0" y="12918614"/>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16" id="16"/>
          <p:cNvSpPr txBox="true"/>
          <p:nvPr/>
        </p:nvSpPr>
        <p:spPr>
          <a:xfrm rot="0">
            <a:off x="3057391" y="4118108"/>
            <a:ext cx="5783653" cy="3038475"/>
          </a:xfrm>
          <a:prstGeom prst="rect">
            <a:avLst/>
          </a:prstGeom>
        </p:spPr>
        <p:txBody>
          <a:bodyPr anchor="t" rtlCol="false" tIns="0" lIns="0" bIns="0" rIns="0">
            <a:spAutoFit/>
          </a:bodyPr>
          <a:lstStyle/>
          <a:p>
            <a:pPr algn="l">
              <a:lnSpc>
                <a:spcPts val="4799"/>
              </a:lnSpc>
            </a:pPr>
            <a:r>
              <a:rPr lang="en-US" sz="3999" b="true">
                <a:solidFill>
                  <a:srgbClr val="4E4937"/>
                </a:solidFill>
                <a:latin typeface="Poppins Bold"/>
                <a:ea typeface="Poppins Bold"/>
                <a:cs typeface="Poppins Bold"/>
                <a:sym typeface="Poppins Bold"/>
              </a:rPr>
              <a:t>Frontend:</a:t>
            </a:r>
          </a:p>
          <a:p>
            <a:pPr algn="l" marL="863599" indent="-431800" lvl="1">
              <a:lnSpc>
                <a:spcPts val="4799"/>
              </a:lnSpc>
              <a:buFont typeface="Arial"/>
              <a:buChar char="•"/>
            </a:pPr>
            <a:r>
              <a:rPr lang="en-US" sz="3999">
                <a:solidFill>
                  <a:srgbClr val="4E4937"/>
                </a:solidFill>
                <a:latin typeface="Poppins"/>
                <a:ea typeface="Poppins"/>
                <a:cs typeface="Poppins"/>
                <a:sym typeface="Poppins"/>
              </a:rPr>
              <a:t>HTML</a:t>
            </a:r>
          </a:p>
          <a:p>
            <a:pPr algn="l" marL="863599" indent="-431800" lvl="1">
              <a:lnSpc>
                <a:spcPts val="4799"/>
              </a:lnSpc>
              <a:buFont typeface="Arial"/>
              <a:buChar char="•"/>
            </a:pPr>
            <a:r>
              <a:rPr lang="en-US" sz="3999">
                <a:solidFill>
                  <a:srgbClr val="4E4937"/>
                </a:solidFill>
                <a:latin typeface="Poppins"/>
                <a:ea typeface="Poppins"/>
                <a:cs typeface="Poppins"/>
                <a:sym typeface="Poppins"/>
              </a:rPr>
              <a:t>CSS</a:t>
            </a:r>
          </a:p>
          <a:p>
            <a:pPr algn="l" marL="863599" indent="-431800" lvl="1">
              <a:lnSpc>
                <a:spcPts val="4799"/>
              </a:lnSpc>
              <a:buFont typeface="Arial"/>
              <a:buChar char="•"/>
            </a:pPr>
            <a:r>
              <a:rPr lang="en-US" sz="3999">
                <a:solidFill>
                  <a:srgbClr val="4E4937"/>
                </a:solidFill>
                <a:latin typeface="Poppins"/>
                <a:ea typeface="Poppins"/>
                <a:cs typeface="Poppins"/>
                <a:sym typeface="Poppins"/>
              </a:rPr>
              <a:t>JavaScript</a:t>
            </a:r>
          </a:p>
          <a:p>
            <a:pPr algn="l" marL="863599" indent="-431800" lvl="1">
              <a:lnSpc>
                <a:spcPts val="4799"/>
              </a:lnSpc>
              <a:buFont typeface="Arial"/>
              <a:buChar char="•"/>
            </a:pPr>
            <a:r>
              <a:rPr lang="en-US" sz="3999">
                <a:solidFill>
                  <a:srgbClr val="4E4937"/>
                </a:solidFill>
                <a:latin typeface="Poppins"/>
                <a:ea typeface="Poppins"/>
                <a:cs typeface="Poppins"/>
                <a:sym typeface="Poppins"/>
              </a:rPr>
              <a:t>TailwindCSS</a:t>
            </a:r>
          </a:p>
        </p:txBody>
      </p:sp>
      <p:sp>
        <p:nvSpPr>
          <p:cNvPr name="TextBox 17" id="17"/>
          <p:cNvSpPr txBox="true"/>
          <p:nvPr/>
        </p:nvSpPr>
        <p:spPr>
          <a:xfrm rot="0">
            <a:off x="3057391" y="7137602"/>
            <a:ext cx="5783653" cy="2438400"/>
          </a:xfrm>
          <a:prstGeom prst="rect">
            <a:avLst/>
          </a:prstGeom>
        </p:spPr>
        <p:txBody>
          <a:bodyPr anchor="t" rtlCol="false" tIns="0" lIns="0" bIns="0" rIns="0">
            <a:spAutoFit/>
          </a:bodyPr>
          <a:lstStyle/>
          <a:p>
            <a:pPr algn="l">
              <a:lnSpc>
                <a:spcPts val="4799"/>
              </a:lnSpc>
            </a:pPr>
            <a:r>
              <a:rPr lang="en-US" sz="3999" b="true">
                <a:solidFill>
                  <a:srgbClr val="4E4937"/>
                </a:solidFill>
                <a:latin typeface="Poppins Bold"/>
                <a:ea typeface="Poppins Bold"/>
                <a:cs typeface="Poppins Bold"/>
                <a:sym typeface="Poppins Bold"/>
              </a:rPr>
              <a:t>Công cụ hỗ trợ:</a:t>
            </a:r>
          </a:p>
          <a:p>
            <a:pPr algn="l" marL="863599" indent="-431800" lvl="1">
              <a:lnSpc>
                <a:spcPts val="4799"/>
              </a:lnSpc>
              <a:buFont typeface="Arial"/>
              <a:buChar char="•"/>
            </a:pPr>
            <a:r>
              <a:rPr lang="en-US" sz="3999">
                <a:solidFill>
                  <a:srgbClr val="4E4937"/>
                </a:solidFill>
                <a:latin typeface="Poppins"/>
                <a:ea typeface="Poppins"/>
                <a:cs typeface="Poppins"/>
                <a:sym typeface="Poppins"/>
              </a:rPr>
              <a:t>Git &amp; Github</a:t>
            </a:r>
          </a:p>
          <a:p>
            <a:pPr algn="l" marL="863599" indent="-431800" lvl="1">
              <a:lnSpc>
                <a:spcPts val="4799"/>
              </a:lnSpc>
              <a:buFont typeface="Arial"/>
              <a:buChar char="•"/>
            </a:pPr>
            <a:r>
              <a:rPr lang="en-US" sz="3999">
                <a:solidFill>
                  <a:srgbClr val="4E4937"/>
                </a:solidFill>
                <a:latin typeface="Poppins"/>
                <a:ea typeface="Poppins"/>
                <a:cs typeface="Poppins"/>
                <a:sym typeface="Poppins"/>
              </a:rPr>
              <a:t>Ngrok</a:t>
            </a:r>
          </a:p>
          <a:p>
            <a:pPr algn="l" marL="863599" indent="-431800" lvl="1">
              <a:lnSpc>
                <a:spcPts val="4799"/>
              </a:lnSpc>
              <a:buFont typeface="Arial"/>
              <a:buChar char="•"/>
            </a:pPr>
            <a:r>
              <a:rPr lang="en-US" sz="3999">
                <a:solidFill>
                  <a:srgbClr val="4E4937"/>
                </a:solidFill>
                <a:latin typeface="Poppins"/>
                <a:ea typeface="Poppins"/>
                <a:cs typeface="Poppins"/>
                <a:sym typeface="Poppins"/>
              </a:rPr>
              <a:t>Composer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8D9AD"/>
        </a:solidFill>
      </p:bgPr>
    </p:bg>
    <p:spTree>
      <p:nvGrpSpPr>
        <p:cNvPr id="1" name=""/>
        <p:cNvGrpSpPr/>
        <p:nvPr/>
      </p:nvGrpSpPr>
      <p:grpSpPr>
        <a:xfrm>
          <a:off x="0" y="0"/>
          <a:ext cx="0" cy="0"/>
          <a:chOff x="0" y="0"/>
          <a:chExt cx="0" cy="0"/>
        </a:xfrm>
      </p:grpSpPr>
      <p:sp>
        <p:nvSpPr>
          <p:cNvPr name="Freeform 2" id="2"/>
          <p:cNvSpPr/>
          <p:nvPr/>
        </p:nvSpPr>
        <p:spPr>
          <a:xfrm flipH="false" flipV="false" rot="0">
            <a:off x="39516" y="0"/>
            <a:ext cx="18208972" cy="10287002"/>
          </a:xfrm>
          <a:custGeom>
            <a:avLst/>
            <a:gdLst/>
            <a:ahLst/>
            <a:cxnLst/>
            <a:rect r="r" b="b" t="t" l="l"/>
            <a:pathLst>
              <a:path h="10287002" w="18208972">
                <a:moveTo>
                  <a:pt x="0" y="0"/>
                </a:moveTo>
                <a:lnTo>
                  <a:pt x="18208972" y="0"/>
                </a:lnTo>
                <a:lnTo>
                  <a:pt x="18208972" y="10287002"/>
                </a:lnTo>
                <a:lnTo>
                  <a:pt x="0" y="10287002"/>
                </a:lnTo>
                <a:lnTo>
                  <a:pt x="0" y="0"/>
                </a:lnTo>
                <a:close/>
              </a:path>
            </a:pathLst>
          </a:custGeom>
          <a:blipFill>
            <a:blip r:embed="rId3"/>
            <a:stretch>
              <a:fillRect l="0" t="0" r="0" b="0"/>
            </a:stretch>
          </a:blipFill>
        </p:spPr>
      </p:sp>
      <p:sp>
        <p:nvSpPr>
          <p:cNvPr name="Freeform 3" id="3"/>
          <p:cNvSpPr/>
          <p:nvPr/>
        </p:nvSpPr>
        <p:spPr>
          <a:xfrm flipH="false" flipV="false" rot="0">
            <a:off x="16072500" y="-435595"/>
            <a:ext cx="3718410" cy="4044094"/>
          </a:xfrm>
          <a:custGeom>
            <a:avLst/>
            <a:gdLst/>
            <a:ahLst/>
            <a:cxnLst/>
            <a:rect r="r" b="b" t="t" l="l"/>
            <a:pathLst>
              <a:path h="4044094" w="3718410">
                <a:moveTo>
                  <a:pt x="0" y="0"/>
                </a:moveTo>
                <a:lnTo>
                  <a:pt x="3718410" y="0"/>
                </a:lnTo>
                <a:lnTo>
                  <a:pt x="3718410" y="4044095"/>
                </a:lnTo>
                <a:lnTo>
                  <a:pt x="0" y="4044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891721" y="-624083"/>
            <a:ext cx="3684045" cy="3238908"/>
          </a:xfrm>
          <a:custGeom>
            <a:avLst/>
            <a:gdLst/>
            <a:ahLst/>
            <a:cxnLst/>
            <a:rect r="r" b="b" t="t" l="l"/>
            <a:pathLst>
              <a:path h="3238908" w="3684045">
                <a:moveTo>
                  <a:pt x="0" y="0"/>
                </a:moveTo>
                <a:lnTo>
                  <a:pt x="3684045" y="0"/>
                </a:lnTo>
                <a:lnTo>
                  <a:pt x="3684045" y="3238908"/>
                </a:lnTo>
                <a:lnTo>
                  <a:pt x="0" y="32389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802387">
            <a:off x="15854558" y="-1260966"/>
            <a:ext cx="6142340" cy="5494836"/>
          </a:xfrm>
          <a:custGeom>
            <a:avLst/>
            <a:gdLst/>
            <a:ahLst/>
            <a:cxnLst/>
            <a:rect r="r" b="b" t="t" l="l"/>
            <a:pathLst>
              <a:path h="5494836" w="6142340">
                <a:moveTo>
                  <a:pt x="0" y="0"/>
                </a:moveTo>
                <a:lnTo>
                  <a:pt x="6142340" y="0"/>
                </a:lnTo>
                <a:lnTo>
                  <a:pt x="6142340" y="5494836"/>
                </a:lnTo>
                <a:lnTo>
                  <a:pt x="0" y="5494836"/>
                </a:lnTo>
                <a:lnTo>
                  <a:pt x="0" y="0"/>
                </a:lnTo>
                <a:close/>
              </a:path>
            </a:pathLst>
          </a:custGeom>
          <a:blipFill>
            <a:blip r:embed="rId8">
              <a:alphaModFix amt="51000"/>
            </a:blip>
            <a:stretch>
              <a:fillRect l="0" t="0" r="0" b="0"/>
            </a:stretch>
          </a:blipFill>
        </p:spPr>
      </p:sp>
      <p:sp>
        <p:nvSpPr>
          <p:cNvPr name="Freeform 6" id="6"/>
          <p:cNvSpPr/>
          <p:nvPr/>
        </p:nvSpPr>
        <p:spPr>
          <a:xfrm flipH="false" flipV="false" rot="0">
            <a:off x="336362" y="-64976"/>
            <a:ext cx="10379099" cy="10934950"/>
          </a:xfrm>
          <a:custGeom>
            <a:avLst/>
            <a:gdLst/>
            <a:ahLst/>
            <a:cxnLst/>
            <a:rect r="r" b="b" t="t" l="l"/>
            <a:pathLst>
              <a:path h="10934950" w="10379099">
                <a:moveTo>
                  <a:pt x="0" y="0"/>
                </a:moveTo>
                <a:lnTo>
                  <a:pt x="10379100" y="0"/>
                </a:lnTo>
                <a:lnTo>
                  <a:pt x="10379100" y="10934950"/>
                </a:lnTo>
                <a:lnTo>
                  <a:pt x="0" y="1093495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184531" y="2581827"/>
            <a:ext cx="5029317" cy="5029317"/>
          </a:xfrm>
          <a:custGeom>
            <a:avLst/>
            <a:gdLst/>
            <a:ahLst/>
            <a:cxnLst/>
            <a:rect r="r" b="b" t="t" l="l"/>
            <a:pathLst>
              <a:path h="5029317" w="5029317">
                <a:moveTo>
                  <a:pt x="0" y="0"/>
                </a:moveTo>
                <a:lnTo>
                  <a:pt x="5029317" y="0"/>
                </a:lnTo>
                <a:lnTo>
                  <a:pt x="5029317" y="5029317"/>
                </a:lnTo>
                <a:lnTo>
                  <a:pt x="0" y="5029317"/>
                </a:lnTo>
                <a:lnTo>
                  <a:pt x="0" y="0"/>
                </a:lnTo>
                <a:close/>
              </a:path>
            </a:pathLst>
          </a:custGeom>
          <a:blipFill>
            <a:blip r:embed="rId11"/>
            <a:stretch>
              <a:fillRect l="0" t="0" r="0" b="0"/>
            </a:stretch>
          </a:blipFill>
        </p:spPr>
      </p:sp>
      <p:sp>
        <p:nvSpPr>
          <p:cNvPr name="TextBox 8" id="8"/>
          <p:cNvSpPr txBox="true"/>
          <p:nvPr/>
        </p:nvSpPr>
        <p:spPr>
          <a:xfrm rot="0">
            <a:off x="3699189" y="381000"/>
            <a:ext cx="10374301" cy="1257300"/>
          </a:xfrm>
          <a:prstGeom prst="rect">
            <a:avLst/>
          </a:prstGeom>
        </p:spPr>
        <p:txBody>
          <a:bodyPr anchor="t" rtlCol="false" tIns="0" lIns="0" bIns="0" rIns="0">
            <a:spAutoFit/>
          </a:bodyPr>
          <a:lstStyle/>
          <a:p>
            <a:pPr algn="l">
              <a:lnSpc>
                <a:spcPts val="9600"/>
              </a:lnSpc>
            </a:pPr>
            <a:r>
              <a:rPr lang="en-US" b="true" sz="8000">
                <a:solidFill>
                  <a:srgbClr val="578A36"/>
                </a:solidFill>
                <a:latin typeface="Arimo Bold"/>
                <a:ea typeface="Arimo Bold"/>
                <a:cs typeface="Arimo Bold"/>
                <a:sym typeface="Arimo Bold"/>
              </a:rPr>
              <a:t>Cổng thanh toán:</a:t>
            </a:r>
          </a:p>
        </p:txBody>
      </p:sp>
      <p:sp>
        <p:nvSpPr>
          <p:cNvPr name="TextBox 9" id="9"/>
          <p:cNvSpPr txBox="true"/>
          <p:nvPr/>
        </p:nvSpPr>
        <p:spPr>
          <a:xfrm rot="0">
            <a:off x="7021253" y="2244271"/>
            <a:ext cx="9380893" cy="7810500"/>
          </a:xfrm>
          <a:prstGeom prst="rect">
            <a:avLst/>
          </a:prstGeom>
        </p:spPr>
        <p:txBody>
          <a:bodyPr anchor="t" rtlCol="false" tIns="0" lIns="0" bIns="0" rIns="0">
            <a:spAutoFit/>
          </a:bodyPr>
          <a:lstStyle/>
          <a:p>
            <a:pPr algn="l">
              <a:lnSpc>
                <a:spcPts val="4799"/>
              </a:lnSpc>
            </a:pPr>
            <a:r>
              <a:rPr lang="en-US" sz="3999">
                <a:solidFill>
                  <a:srgbClr val="1E3D28"/>
                </a:solidFill>
                <a:latin typeface="Arimo"/>
                <a:ea typeface="Arimo"/>
                <a:cs typeface="Arimo"/>
                <a:sym typeface="Arimo"/>
              </a:rPr>
              <a:t>Lý do chọn VNPay:</a:t>
            </a:r>
          </a:p>
          <a:p>
            <a:pPr algn="l" marL="863599" indent="-431800" lvl="1">
              <a:lnSpc>
                <a:spcPts val="4799"/>
              </a:lnSpc>
              <a:buFont typeface="Arial"/>
              <a:buChar char="•"/>
            </a:pPr>
            <a:r>
              <a:rPr lang="en-US" sz="3999">
                <a:solidFill>
                  <a:srgbClr val="1E3D28"/>
                </a:solidFill>
                <a:latin typeface="Arimo"/>
                <a:ea typeface="Arimo"/>
                <a:cs typeface="Arimo"/>
                <a:sym typeface="Arimo"/>
              </a:rPr>
              <a:t>Phổ biến tại Việt Nam</a:t>
            </a:r>
          </a:p>
          <a:p>
            <a:pPr algn="l" marL="863599" indent="-431800" lvl="1">
              <a:lnSpc>
                <a:spcPts val="4799"/>
              </a:lnSpc>
              <a:buFont typeface="Arial"/>
              <a:buChar char="•"/>
            </a:pPr>
            <a:r>
              <a:rPr lang="en-US" sz="3999">
                <a:solidFill>
                  <a:srgbClr val="1E3D28"/>
                </a:solidFill>
                <a:latin typeface="Arimo"/>
                <a:ea typeface="Arimo"/>
                <a:cs typeface="Arimo"/>
                <a:sym typeface="Arimo"/>
              </a:rPr>
              <a:t>Bảo mật cao</a:t>
            </a:r>
          </a:p>
          <a:p>
            <a:pPr algn="l" marL="863599" indent="-431800" lvl="1">
              <a:lnSpc>
                <a:spcPts val="4799"/>
              </a:lnSpc>
              <a:buFont typeface="Arial"/>
              <a:buChar char="•"/>
            </a:pPr>
            <a:r>
              <a:rPr lang="en-US" sz="3999">
                <a:solidFill>
                  <a:srgbClr val="1E3D28"/>
                </a:solidFill>
                <a:latin typeface="Arimo"/>
                <a:ea typeface="Arimo"/>
                <a:cs typeface="Arimo"/>
                <a:sym typeface="Arimo"/>
              </a:rPr>
              <a:t>Dễ tích hợp</a:t>
            </a:r>
          </a:p>
          <a:p>
            <a:pPr algn="l" marL="863599" indent="-431800" lvl="1">
              <a:lnSpc>
                <a:spcPts val="4799"/>
              </a:lnSpc>
              <a:buFont typeface="Arial"/>
              <a:buChar char="•"/>
            </a:pPr>
            <a:r>
              <a:rPr lang="en-US" sz="3999">
                <a:solidFill>
                  <a:srgbClr val="1E3D28"/>
                </a:solidFill>
                <a:latin typeface="Arimo"/>
                <a:ea typeface="Arimo"/>
                <a:cs typeface="Arimo"/>
                <a:sym typeface="Arimo"/>
              </a:rPr>
              <a:t>Thanh toán nhanh chóng (bằng QR)</a:t>
            </a:r>
          </a:p>
          <a:p>
            <a:pPr algn="l" marL="863599" indent="-431800" lvl="1">
              <a:lnSpc>
                <a:spcPts val="4799"/>
              </a:lnSpc>
              <a:buFont typeface="Arial"/>
              <a:buChar char="•"/>
            </a:pPr>
            <a:r>
              <a:rPr lang="en-US" sz="3999">
                <a:solidFill>
                  <a:srgbClr val="1E3D28"/>
                </a:solidFill>
                <a:latin typeface="Arimo"/>
                <a:ea typeface="Arimo"/>
                <a:cs typeface="Arimo"/>
                <a:sym typeface="Arimo"/>
              </a:rPr>
              <a:t>Hỗ trợ kiểm tra giao dịch (URL, IPN)</a:t>
            </a:r>
          </a:p>
          <a:p>
            <a:pPr algn="l">
              <a:lnSpc>
                <a:spcPts val="4799"/>
              </a:lnSpc>
            </a:pPr>
          </a:p>
          <a:p>
            <a:pPr algn="l">
              <a:lnSpc>
                <a:spcPts val="4799"/>
              </a:lnSpc>
            </a:pPr>
          </a:p>
          <a:p>
            <a:pPr algn="l">
              <a:lnSpc>
                <a:spcPts val="4799"/>
              </a:lnSpc>
            </a:pPr>
          </a:p>
          <a:p>
            <a:pPr algn="l">
              <a:lnSpc>
                <a:spcPts val="4799"/>
              </a:lnSpc>
            </a:pPr>
          </a:p>
          <a:p>
            <a:pPr algn="l">
              <a:lnSpc>
                <a:spcPts val="4799"/>
              </a:lnSpc>
            </a:pPr>
          </a:p>
          <a:p>
            <a:pPr algn="l">
              <a:lnSpc>
                <a:spcPts val="4799"/>
              </a:lnSpc>
            </a:pPr>
          </a:p>
          <a:p>
            <a:pPr algn="l">
              <a:lnSpc>
                <a:spcPts val="479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8D9AD"/>
        </a:solidFill>
      </p:bgPr>
    </p:bg>
    <p:spTree>
      <p:nvGrpSpPr>
        <p:cNvPr id="1" name=""/>
        <p:cNvGrpSpPr/>
        <p:nvPr/>
      </p:nvGrpSpPr>
      <p:grpSpPr>
        <a:xfrm>
          <a:off x="0" y="0"/>
          <a:ext cx="0" cy="0"/>
          <a:chOff x="0" y="0"/>
          <a:chExt cx="0" cy="0"/>
        </a:xfrm>
      </p:grpSpPr>
      <p:sp>
        <p:nvSpPr>
          <p:cNvPr name="Freeform 2" id="2"/>
          <p:cNvSpPr/>
          <p:nvPr/>
        </p:nvSpPr>
        <p:spPr>
          <a:xfrm flipH="false" flipV="false" rot="0">
            <a:off x="39516" y="0"/>
            <a:ext cx="18208972" cy="10287002"/>
          </a:xfrm>
          <a:custGeom>
            <a:avLst/>
            <a:gdLst/>
            <a:ahLst/>
            <a:cxnLst/>
            <a:rect r="r" b="b" t="t" l="l"/>
            <a:pathLst>
              <a:path h="10287002" w="18208972">
                <a:moveTo>
                  <a:pt x="0" y="0"/>
                </a:moveTo>
                <a:lnTo>
                  <a:pt x="18208972" y="0"/>
                </a:lnTo>
                <a:lnTo>
                  <a:pt x="18208972" y="10287002"/>
                </a:lnTo>
                <a:lnTo>
                  <a:pt x="0" y="10287002"/>
                </a:lnTo>
                <a:lnTo>
                  <a:pt x="0" y="0"/>
                </a:lnTo>
                <a:close/>
              </a:path>
            </a:pathLst>
          </a:custGeom>
          <a:blipFill>
            <a:blip r:embed="rId3"/>
            <a:stretch>
              <a:fillRect l="0" t="0" r="0" b="0"/>
            </a:stretch>
          </a:blipFill>
        </p:spPr>
      </p:sp>
      <p:sp>
        <p:nvSpPr>
          <p:cNvPr name="Freeform 3" id="3"/>
          <p:cNvSpPr/>
          <p:nvPr/>
        </p:nvSpPr>
        <p:spPr>
          <a:xfrm flipH="false" flipV="false" rot="0">
            <a:off x="16072500" y="-435595"/>
            <a:ext cx="3718410" cy="4044094"/>
          </a:xfrm>
          <a:custGeom>
            <a:avLst/>
            <a:gdLst/>
            <a:ahLst/>
            <a:cxnLst/>
            <a:rect r="r" b="b" t="t" l="l"/>
            <a:pathLst>
              <a:path h="4044094" w="3718410">
                <a:moveTo>
                  <a:pt x="0" y="0"/>
                </a:moveTo>
                <a:lnTo>
                  <a:pt x="3718410" y="0"/>
                </a:lnTo>
                <a:lnTo>
                  <a:pt x="3718410" y="4044095"/>
                </a:lnTo>
                <a:lnTo>
                  <a:pt x="0" y="4044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891721" y="-624083"/>
            <a:ext cx="3684045" cy="3238908"/>
          </a:xfrm>
          <a:custGeom>
            <a:avLst/>
            <a:gdLst/>
            <a:ahLst/>
            <a:cxnLst/>
            <a:rect r="r" b="b" t="t" l="l"/>
            <a:pathLst>
              <a:path h="3238908" w="3684045">
                <a:moveTo>
                  <a:pt x="0" y="0"/>
                </a:moveTo>
                <a:lnTo>
                  <a:pt x="3684045" y="0"/>
                </a:lnTo>
                <a:lnTo>
                  <a:pt x="3684045" y="3238908"/>
                </a:lnTo>
                <a:lnTo>
                  <a:pt x="0" y="32389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802387">
            <a:off x="15854558" y="-1260966"/>
            <a:ext cx="6142340" cy="5494836"/>
          </a:xfrm>
          <a:custGeom>
            <a:avLst/>
            <a:gdLst/>
            <a:ahLst/>
            <a:cxnLst/>
            <a:rect r="r" b="b" t="t" l="l"/>
            <a:pathLst>
              <a:path h="5494836" w="6142340">
                <a:moveTo>
                  <a:pt x="0" y="0"/>
                </a:moveTo>
                <a:lnTo>
                  <a:pt x="6142340" y="0"/>
                </a:lnTo>
                <a:lnTo>
                  <a:pt x="6142340" y="5494836"/>
                </a:lnTo>
                <a:lnTo>
                  <a:pt x="0" y="5494836"/>
                </a:lnTo>
                <a:lnTo>
                  <a:pt x="0" y="0"/>
                </a:lnTo>
                <a:close/>
              </a:path>
            </a:pathLst>
          </a:custGeom>
          <a:blipFill>
            <a:blip r:embed="rId8">
              <a:alphaModFix amt="51000"/>
            </a:blip>
            <a:stretch>
              <a:fillRect l="0" t="0" r="0" b="0"/>
            </a:stretch>
          </a:blipFill>
        </p:spPr>
      </p:sp>
      <p:sp>
        <p:nvSpPr>
          <p:cNvPr name="Freeform 6" id="6"/>
          <p:cNvSpPr/>
          <p:nvPr/>
        </p:nvSpPr>
        <p:spPr>
          <a:xfrm flipH="false" flipV="false" rot="0">
            <a:off x="336362" y="-64976"/>
            <a:ext cx="10379099" cy="10934950"/>
          </a:xfrm>
          <a:custGeom>
            <a:avLst/>
            <a:gdLst/>
            <a:ahLst/>
            <a:cxnLst/>
            <a:rect r="r" b="b" t="t" l="l"/>
            <a:pathLst>
              <a:path h="10934950" w="10379099">
                <a:moveTo>
                  <a:pt x="0" y="0"/>
                </a:moveTo>
                <a:lnTo>
                  <a:pt x="10379100" y="0"/>
                </a:lnTo>
                <a:lnTo>
                  <a:pt x="10379100" y="10934950"/>
                </a:lnTo>
                <a:lnTo>
                  <a:pt x="0" y="1093495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3428414" y="874762"/>
            <a:ext cx="11463307" cy="1385281"/>
          </a:xfrm>
          <a:prstGeom prst="rect">
            <a:avLst/>
          </a:prstGeom>
        </p:spPr>
        <p:txBody>
          <a:bodyPr anchor="t" rtlCol="false" tIns="0" lIns="0" bIns="0" rIns="0">
            <a:spAutoFit/>
          </a:bodyPr>
          <a:lstStyle/>
          <a:p>
            <a:pPr algn="l">
              <a:lnSpc>
                <a:spcPts val="10607"/>
              </a:lnSpc>
            </a:pPr>
            <a:r>
              <a:rPr lang="en-US" b="true" sz="8839">
                <a:solidFill>
                  <a:srgbClr val="578A36"/>
                </a:solidFill>
                <a:latin typeface="Arimo Bold"/>
                <a:ea typeface="Arimo Bold"/>
                <a:cs typeface="Arimo Bold"/>
                <a:sym typeface="Arimo Bold"/>
              </a:rPr>
              <a:t>Mục tiêu</a:t>
            </a:r>
          </a:p>
        </p:txBody>
      </p:sp>
      <p:sp>
        <p:nvSpPr>
          <p:cNvPr name="TextBox 8" id="8"/>
          <p:cNvSpPr txBox="true"/>
          <p:nvPr/>
        </p:nvSpPr>
        <p:spPr>
          <a:xfrm rot="0">
            <a:off x="2769447" y="2718430"/>
            <a:ext cx="11603493" cy="5966573"/>
          </a:xfrm>
          <a:prstGeom prst="rect">
            <a:avLst/>
          </a:prstGeom>
        </p:spPr>
        <p:txBody>
          <a:bodyPr anchor="t" rtlCol="false" tIns="0" lIns="0" bIns="0" rIns="0">
            <a:spAutoFit/>
          </a:bodyPr>
          <a:lstStyle/>
          <a:p>
            <a:pPr algn="l">
              <a:lnSpc>
                <a:spcPts val="5937"/>
              </a:lnSpc>
            </a:pPr>
          </a:p>
          <a:p>
            <a:pPr algn="l" marL="1068211" indent="-534105" lvl="1">
              <a:lnSpc>
                <a:spcPts val="5937"/>
              </a:lnSpc>
              <a:buFont typeface="Arial"/>
              <a:buChar char="•"/>
            </a:pPr>
            <a:r>
              <a:rPr lang="en-US" sz="4947">
                <a:solidFill>
                  <a:srgbClr val="1E3D28"/>
                </a:solidFill>
                <a:latin typeface="Arimo"/>
                <a:ea typeface="Arimo"/>
                <a:cs typeface="Arimo"/>
                <a:sym typeface="Arimo"/>
              </a:rPr>
              <a:t>Tă</a:t>
            </a:r>
            <a:r>
              <a:rPr lang="en-US" sz="4947">
                <a:solidFill>
                  <a:srgbClr val="1E3D28"/>
                </a:solidFill>
                <a:latin typeface="Arimo"/>
                <a:ea typeface="Arimo"/>
                <a:cs typeface="Arimo"/>
                <a:sym typeface="Arimo"/>
              </a:rPr>
              <a:t>ng tương tác với khách hàng</a:t>
            </a:r>
          </a:p>
          <a:p>
            <a:pPr algn="l" marL="1068211" indent="-534105" lvl="1">
              <a:lnSpc>
                <a:spcPts val="5937"/>
              </a:lnSpc>
              <a:buFont typeface="Arial"/>
              <a:buChar char="•"/>
            </a:pPr>
            <a:r>
              <a:rPr lang="en-US" sz="4947">
                <a:solidFill>
                  <a:srgbClr val="1E3D28"/>
                </a:solidFill>
                <a:latin typeface="Arimo"/>
                <a:ea typeface="Arimo"/>
                <a:cs typeface="Arimo"/>
                <a:sym typeface="Arimo"/>
              </a:rPr>
              <a:t>Thu hút khách hàng mới</a:t>
            </a:r>
          </a:p>
          <a:p>
            <a:pPr algn="l" marL="1068211" indent="-534105" lvl="1">
              <a:lnSpc>
                <a:spcPts val="5937"/>
              </a:lnSpc>
              <a:buFont typeface="Arial"/>
              <a:buChar char="•"/>
            </a:pPr>
            <a:r>
              <a:rPr lang="en-US" sz="4947">
                <a:solidFill>
                  <a:srgbClr val="1E3D28"/>
                </a:solidFill>
                <a:latin typeface="Arimo"/>
                <a:ea typeface="Arimo"/>
                <a:cs typeface="Arimo"/>
                <a:sym typeface="Arimo"/>
              </a:rPr>
              <a:t>Điều hướng người dùng về website TMĐT</a:t>
            </a:r>
          </a:p>
          <a:p>
            <a:pPr algn="l" marL="1068211" indent="-534105" lvl="1">
              <a:lnSpc>
                <a:spcPts val="5937"/>
              </a:lnSpc>
              <a:buFont typeface="Arial"/>
              <a:buChar char="•"/>
            </a:pPr>
            <a:r>
              <a:rPr lang="en-US" sz="4947">
                <a:solidFill>
                  <a:srgbClr val="1E3D28"/>
                </a:solidFill>
                <a:latin typeface="Arimo"/>
                <a:ea typeface="Arimo"/>
                <a:cs typeface="Arimo"/>
                <a:sym typeface="Arimo"/>
              </a:rPr>
              <a:t>Xây dựng cộng đồng yêu thích sản phẩm xanh</a:t>
            </a:r>
          </a:p>
          <a:p>
            <a:pPr algn="l">
              <a:lnSpc>
                <a:spcPts val="5937"/>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8D9AD"/>
        </a:solidFill>
      </p:bgPr>
    </p:bg>
    <p:spTree>
      <p:nvGrpSpPr>
        <p:cNvPr id="1" name=""/>
        <p:cNvGrpSpPr/>
        <p:nvPr/>
      </p:nvGrpSpPr>
      <p:grpSpPr>
        <a:xfrm>
          <a:off x="0" y="0"/>
          <a:ext cx="0" cy="0"/>
          <a:chOff x="0" y="0"/>
          <a:chExt cx="0" cy="0"/>
        </a:xfrm>
      </p:grpSpPr>
      <p:sp>
        <p:nvSpPr>
          <p:cNvPr name="Freeform 2" id="2"/>
          <p:cNvSpPr/>
          <p:nvPr/>
        </p:nvSpPr>
        <p:spPr>
          <a:xfrm flipH="false" flipV="false" rot="0">
            <a:off x="39516" y="0"/>
            <a:ext cx="18208972" cy="10287002"/>
          </a:xfrm>
          <a:custGeom>
            <a:avLst/>
            <a:gdLst/>
            <a:ahLst/>
            <a:cxnLst/>
            <a:rect r="r" b="b" t="t" l="l"/>
            <a:pathLst>
              <a:path h="10287002" w="18208972">
                <a:moveTo>
                  <a:pt x="0" y="0"/>
                </a:moveTo>
                <a:lnTo>
                  <a:pt x="18208972" y="0"/>
                </a:lnTo>
                <a:lnTo>
                  <a:pt x="18208972" y="10287002"/>
                </a:lnTo>
                <a:lnTo>
                  <a:pt x="0" y="10287002"/>
                </a:lnTo>
                <a:lnTo>
                  <a:pt x="0" y="0"/>
                </a:lnTo>
                <a:close/>
              </a:path>
            </a:pathLst>
          </a:custGeom>
          <a:blipFill>
            <a:blip r:embed="rId3"/>
            <a:stretch>
              <a:fillRect l="0" t="0" r="0" b="0"/>
            </a:stretch>
          </a:blipFill>
        </p:spPr>
      </p:sp>
      <p:sp>
        <p:nvSpPr>
          <p:cNvPr name="Freeform 3" id="3"/>
          <p:cNvSpPr/>
          <p:nvPr/>
        </p:nvSpPr>
        <p:spPr>
          <a:xfrm flipH="false" flipV="false" rot="0">
            <a:off x="1770426" y="-989398"/>
            <a:ext cx="14671189" cy="12804401"/>
          </a:xfrm>
          <a:custGeom>
            <a:avLst/>
            <a:gdLst/>
            <a:ahLst/>
            <a:cxnLst/>
            <a:rect r="r" b="b" t="t" l="l"/>
            <a:pathLst>
              <a:path h="12804401" w="14671189">
                <a:moveTo>
                  <a:pt x="0" y="0"/>
                </a:moveTo>
                <a:lnTo>
                  <a:pt x="14671190" y="0"/>
                </a:lnTo>
                <a:lnTo>
                  <a:pt x="14671190" y="12804402"/>
                </a:lnTo>
                <a:lnTo>
                  <a:pt x="0" y="128044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747320" y="5569202"/>
            <a:ext cx="2413308" cy="4834700"/>
          </a:xfrm>
          <a:custGeom>
            <a:avLst/>
            <a:gdLst/>
            <a:ahLst/>
            <a:cxnLst/>
            <a:rect r="r" b="b" t="t" l="l"/>
            <a:pathLst>
              <a:path h="4834700" w="2413308">
                <a:moveTo>
                  <a:pt x="0" y="0"/>
                </a:moveTo>
                <a:lnTo>
                  <a:pt x="2413308" y="0"/>
                </a:lnTo>
                <a:lnTo>
                  <a:pt x="2413308" y="4834700"/>
                </a:lnTo>
                <a:lnTo>
                  <a:pt x="0" y="48347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24042" y="0"/>
            <a:ext cx="3158396" cy="5500146"/>
          </a:xfrm>
          <a:custGeom>
            <a:avLst/>
            <a:gdLst/>
            <a:ahLst/>
            <a:cxnLst/>
            <a:rect r="r" b="b" t="t" l="l"/>
            <a:pathLst>
              <a:path h="5500146" w="3158396">
                <a:moveTo>
                  <a:pt x="0" y="0"/>
                </a:moveTo>
                <a:lnTo>
                  <a:pt x="3158396" y="0"/>
                </a:lnTo>
                <a:lnTo>
                  <a:pt x="3158396" y="5500146"/>
                </a:lnTo>
                <a:lnTo>
                  <a:pt x="0" y="55001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9516" y="0"/>
            <a:ext cx="18208972" cy="10287002"/>
          </a:xfrm>
          <a:custGeom>
            <a:avLst/>
            <a:gdLst/>
            <a:ahLst/>
            <a:cxnLst/>
            <a:rect r="r" b="b" t="t" l="l"/>
            <a:pathLst>
              <a:path h="10287002" w="18208972">
                <a:moveTo>
                  <a:pt x="0" y="0"/>
                </a:moveTo>
                <a:lnTo>
                  <a:pt x="18208972" y="0"/>
                </a:lnTo>
                <a:lnTo>
                  <a:pt x="18208972" y="10287002"/>
                </a:lnTo>
                <a:lnTo>
                  <a:pt x="0" y="10287002"/>
                </a:lnTo>
                <a:lnTo>
                  <a:pt x="0" y="0"/>
                </a:lnTo>
                <a:close/>
              </a:path>
            </a:pathLst>
          </a:custGeom>
          <a:blipFill>
            <a:blip r:embed="rId3"/>
            <a:stretch>
              <a:fillRect l="0" t="0" r="0" b="0"/>
            </a:stretch>
          </a:blipFill>
        </p:spPr>
      </p:sp>
      <p:sp>
        <p:nvSpPr>
          <p:cNvPr name="TextBox 7" id="7"/>
          <p:cNvSpPr txBox="true"/>
          <p:nvPr/>
        </p:nvSpPr>
        <p:spPr>
          <a:xfrm rot="0">
            <a:off x="3691125" y="4121975"/>
            <a:ext cx="10892550" cy="1304925"/>
          </a:xfrm>
          <a:prstGeom prst="rect">
            <a:avLst/>
          </a:prstGeom>
        </p:spPr>
        <p:txBody>
          <a:bodyPr anchor="t" rtlCol="false" tIns="0" lIns="0" bIns="0" rIns="0">
            <a:spAutoFit/>
          </a:bodyPr>
          <a:lstStyle/>
          <a:p>
            <a:pPr algn="ctr">
              <a:lnSpc>
                <a:spcPts val="9600"/>
              </a:lnSpc>
            </a:pPr>
            <a:r>
              <a:rPr lang="en-US" b="true" sz="8000" u="sng">
                <a:solidFill>
                  <a:srgbClr val="3E6949"/>
                </a:solidFill>
                <a:latin typeface="Poppins Bold"/>
                <a:ea typeface="Poppins Bold"/>
                <a:cs typeface="Poppins Bold"/>
                <a:sym typeface="Poppins Bold"/>
              </a:rPr>
              <a:t>Demo Trực Tiếp</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8D9AD"/>
        </a:solidFill>
      </p:bgPr>
    </p:bg>
    <p:spTree>
      <p:nvGrpSpPr>
        <p:cNvPr id="1" name=""/>
        <p:cNvGrpSpPr/>
        <p:nvPr/>
      </p:nvGrpSpPr>
      <p:grpSpPr>
        <a:xfrm>
          <a:off x="0" y="0"/>
          <a:ext cx="0" cy="0"/>
          <a:chOff x="0" y="0"/>
          <a:chExt cx="0" cy="0"/>
        </a:xfrm>
      </p:grpSpPr>
      <p:sp>
        <p:nvSpPr>
          <p:cNvPr name="Freeform 2" id="2"/>
          <p:cNvSpPr/>
          <p:nvPr/>
        </p:nvSpPr>
        <p:spPr>
          <a:xfrm flipH="false" flipV="false" rot="0">
            <a:off x="39516" y="0"/>
            <a:ext cx="18208972" cy="10287002"/>
          </a:xfrm>
          <a:custGeom>
            <a:avLst/>
            <a:gdLst/>
            <a:ahLst/>
            <a:cxnLst/>
            <a:rect r="r" b="b" t="t" l="l"/>
            <a:pathLst>
              <a:path h="10287002" w="18208972">
                <a:moveTo>
                  <a:pt x="0" y="0"/>
                </a:moveTo>
                <a:lnTo>
                  <a:pt x="18208972" y="0"/>
                </a:lnTo>
                <a:lnTo>
                  <a:pt x="18208972" y="10287002"/>
                </a:lnTo>
                <a:lnTo>
                  <a:pt x="0" y="10287002"/>
                </a:lnTo>
                <a:lnTo>
                  <a:pt x="0" y="0"/>
                </a:lnTo>
                <a:close/>
              </a:path>
            </a:pathLst>
          </a:custGeom>
          <a:blipFill>
            <a:blip r:embed="rId3"/>
            <a:stretch>
              <a:fillRect l="0" t="0" r="0" b="0"/>
            </a:stretch>
          </a:blipFill>
        </p:spPr>
      </p:sp>
      <p:sp>
        <p:nvSpPr>
          <p:cNvPr name="Freeform 3" id="3"/>
          <p:cNvSpPr/>
          <p:nvPr/>
        </p:nvSpPr>
        <p:spPr>
          <a:xfrm flipH="false" flipV="false" rot="0">
            <a:off x="-1166674" y="-3498582"/>
            <a:ext cx="20621353" cy="17997456"/>
          </a:xfrm>
          <a:custGeom>
            <a:avLst/>
            <a:gdLst/>
            <a:ahLst/>
            <a:cxnLst/>
            <a:rect r="r" b="b" t="t" l="l"/>
            <a:pathLst>
              <a:path h="17997456" w="20621353">
                <a:moveTo>
                  <a:pt x="0" y="0"/>
                </a:moveTo>
                <a:lnTo>
                  <a:pt x="20621352" y="0"/>
                </a:lnTo>
                <a:lnTo>
                  <a:pt x="20621352" y="17997456"/>
                </a:lnTo>
                <a:lnTo>
                  <a:pt x="0" y="179974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74692" y="0"/>
            <a:ext cx="2413308" cy="4834700"/>
          </a:xfrm>
          <a:custGeom>
            <a:avLst/>
            <a:gdLst/>
            <a:ahLst/>
            <a:cxnLst/>
            <a:rect r="r" b="b" t="t" l="l"/>
            <a:pathLst>
              <a:path h="4834700" w="2413308">
                <a:moveTo>
                  <a:pt x="0" y="0"/>
                </a:moveTo>
                <a:lnTo>
                  <a:pt x="2413308" y="0"/>
                </a:lnTo>
                <a:lnTo>
                  <a:pt x="2413308" y="4834700"/>
                </a:lnTo>
                <a:lnTo>
                  <a:pt x="0" y="48347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24042" y="0"/>
            <a:ext cx="3158396" cy="5500146"/>
          </a:xfrm>
          <a:custGeom>
            <a:avLst/>
            <a:gdLst/>
            <a:ahLst/>
            <a:cxnLst/>
            <a:rect r="r" b="b" t="t" l="l"/>
            <a:pathLst>
              <a:path h="5500146" w="3158396">
                <a:moveTo>
                  <a:pt x="0" y="0"/>
                </a:moveTo>
                <a:lnTo>
                  <a:pt x="3158396" y="0"/>
                </a:lnTo>
                <a:lnTo>
                  <a:pt x="3158396" y="5500146"/>
                </a:lnTo>
                <a:lnTo>
                  <a:pt x="0" y="55001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79028" y="-2"/>
            <a:ext cx="18208972" cy="10287002"/>
          </a:xfrm>
          <a:custGeom>
            <a:avLst/>
            <a:gdLst/>
            <a:ahLst/>
            <a:cxnLst/>
            <a:rect r="r" b="b" t="t" l="l"/>
            <a:pathLst>
              <a:path h="10287002" w="18208972">
                <a:moveTo>
                  <a:pt x="0" y="0"/>
                </a:moveTo>
                <a:lnTo>
                  <a:pt x="18208972" y="0"/>
                </a:lnTo>
                <a:lnTo>
                  <a:pt x="18208972" y="10287002"/>
                </a:lnTo>
                <a:lnTo>
                  <a:pt x="0" y="10287002"/>
                </a:lnTo>
                <a:lnTo>
                  <a:pt x="0" y="0"/>
                </a:lnTo>
                <a:close/>
              </a:path>
            </a:pathLst>
          </a:custGeom>
          <a:blipFill>
            <a:blip r:embed="rId3"/>
            <a:stretch>
              <a:fillRect l="0" t="0" r="0" b="0"/>
            </a:stretch>
          </a:blipFill>
        </p:spPr>
      </p:sp>
      <p:sp>
        <p:nvSpPr>
          <p:cNvPr name="TextBox 7" id="7"/>
          <p:cNvSpPr txBox="true"/>
          <p:nvPr/>
        </p:nvSpPr>
        <p:spPr>
          <a:xfrm rot="0">
            <a:off x="6066653" y="990600"/>
            <a:ext cx="6078736" cy="885825"/>
          </a:xfrm>
          <a:prstGeom prst="rect">
            <a:avLst/>
          </a:prstGeom>
        </p:spPr>
        <p:txBody>
          <a:bodyPr anchor="t" rtlCol="false" tIns="0" lIns="0" bIns="0" rIns="0">
            <a:spAutoFit/>
          </a:bodyPr>
          <a:lstStyle/>
          <a:p>
            <a:pPr algn="ctr">
              <a:lnSpc>
                <a:spcPts val="6720"/>
              </a:lnSpc>
              <a:spcBef>
                <a:spcPct val="0"/>
              </a:spcBef>
            </a:pPr>
            <a:r>
              <a:rPr lang="en-US" b="true" sz="5600">
                <a:solidFill>
                  <a:srgbClr val="000000"/>
                </a:solidFill>
                <a:latin typeface="Arimo Bold"/>
                <a:ea typeface="Arimo Bold"/>
                <a:cs typeface="Arimo Bold"/>
                <a:sym typeface="Arimo Bold"/>
              </a:rPr>
              <a:t>Kết quả Đạt Được</a:t>
            </a:r>
          </a:p>
        </p:txBody>
      </p:sp>
      <p:sp>
        <p:nvSpPr>
          <p:cNvPr name="TextBox 8" id="8"/>
          <p:cNvSpPr txBox="true"/>
          <p:nvPr/>
        </p:nvSpPr>
        <p:spPr>
          <a:xfrm rot="0">
            <a:off x="4057685" y="2740548"/>
            <a:ext cx="5086317" cy="3362325"/>
          </a:xfrm>
          <a:prstGeom prst="rect">
            <a:avLst/>
          </a:prstGeom>
        </p:spPr>
        <p:txBody>
          <a:bodyPr anchor="t" rtlCol="false" tIns="0" lIns="0" bIns="0" rIns="0">
            <a:spAutoFit/>
          </a:bodyPr>
          <a:lstStyle/>
          <a:p>
            <a:pPr algn="just">
              <a:lnSpc>
                <a:spcPts val="2400"/>
              </a:lnSpc>
            </a:pPr>
            <a:r>
              <a:rPr lang="en-US" sz="2000" b="true">
                <a:solidFill>
                  <a:srgbClr val="000000"/>
                </a:solidFill>
                <a:latin typeface="Arimo Bold"/>
                <a:ea typeface="Arimo Bold"/>
                <a:cs typeface="Arimo Bold"/>
                <a:sym typeface="Arimo Bold"/>
              </a:rPr>
              <a:t>1.Xây dựng website TMĐT hoàn chỉnh</a:t>
            </a:r>
          </a:p>
          <a:p>
            <a:pPr algn="just">
              <a:lnSpc>
                <a:spcPts val="2400"/>
              </a:lnSpc>
            </a:pPr>
            <a:r>
              <a:rPr lang="en-US" sz="2000" b="true">
                <a:solidFill>
                  <a:srgbClr val="000000"/>
                </a:solidFill>
                <a:latin typeface="Arimo Bold"/>
                <a:ea typeface="Arimo Bold"/>
                <a:cs typeface="Arimo Bold"/>
                <a:sym typeface="Arimo Bold"/>
              </a:rPr>
              <a:t>Hệ thống đã hỗ trợ đầy đủ các chức năng cơ bản của một website thương mại điện tử:</a:t>
            </a:r>
          </a:p>
          <a:p>
            <a:pPr algn="just" marL="431801" indent="-215900" lvl="1">
              <a:lnSpc>
                <a:spcPts val="2400"/>
              </a:lnSpc>
              <a:buFont typeface="Arial"/>
              <a:buChar char="•"/>
            </a:pPr>
            <a:r>
              <a:rPr lang="en-US" b="true" sz="2000">
                <a:solidFill>
                  <a:srgbClr val="000000"/>
                </a:solidFill>
                <a:latin typeface="Arimo Bold"/>
                <a:ea typeface="Arimo Bold"/>
                <a:cs typeface="Arimo Bold"/>
                <a:sym typeface="Arimo Bold"/>
              </a:rPr>
              <a:t>Hiển thị sản phẩm</a:t>
            </a:r>
          </a:p>
          <a:p>
            <a:pPr algn="just" marL="431801" indent="-215900" lvl="1">
              <a:lnSpc>
                <a:spcPts val="2400"/>
              </a:lnSpc>
              <a:buFont typeface="Arial"/>
              <a:buChar char="•"/>
            </a:pPr>
            <a:r>
              <a:rPr lang="en-US" b="true" sz="2000">
                <a:solidFill>
                  <a:srgbClr val="000000"/>
                </a:solidFill>
                <a:latin typeface="Arimo Bold"/>
                <a:ea typeface="Arimo Bold"/>
                <a:cs typeface="Arimo Bold"/>
                <a:sym typeface="Arimo Bold"/>
              </a:rPr>
              <a:t>Tìm kiếm sản phẩm</a:t>
            </a:r>
          </a:p>
          <a:p>
            <a:pPr algn="just" marL="431801" indent="-215900" lvl="1">
              <a:lnSpc>
                <a:spcPts val="2400"/>
              </a:lnSpc>
              <a:buFont typeface="Arial"/>
              <a:buChar char="•"/>
            </a:pPr>
            <a:r>
              <a:rPr lang="en-US" b="true" sz="2000">
                <a:solidFill>
                  <a:srgbClr val="000000"/>
                </a:solidFill>
                <a:latin typeface="Arimo Bold"/>
                <a:ea typeface="Arimo Bold"/>
                <a:cs typeface="Arimo Bold"/>
                <a:sym typeface="Arimo Bold"/>
              </a:rPr>
              <a:t>Quản lý giỏ hàng</a:t>
            </a:r>
          </a:p>
          <a:p>
            <a:pPr algn="just" marL="431801" indent="-215900" lvl="1">
              <a:lnSpc>
                <a:spcPts val="2400"/>
              </a:lnSpc>
              <a:buFont typeface="Arial"/>
              <a:buChar char="•"/>
            </a:pPr>
            <a:r>
              <a:rPr lang="en-US" b="true" sz="2000">
                <a:solidFill>
                  <a:srgbClr val="000000"/>
                </a:solidFill>
                <a:latin typeface="Arimo Bold"/>
                <a:ea typeface="Arimo Bold"/>
                <a:cs typeface="Arimo Bold"/>
                <a:sym typeface="Arimo Bold"/>
              </a:rPr>
              <a:t>Đặt hàng trực tuyến</a:t>
            </a:r>
          </a:p>
          <a:p>
            <a:pPr algn="just" marL="431801" indent="-215900" lvl="1">
              <a:lnSpc>
                <a:spcPts val="2400"/>
              </a:lnSpc>
              <a:buFont typeface="Arial"/>
              <a:buChar char="•"/>
            </a:pPr>
            <a:r>
              <a:rPr lang="en-US" b="true" sz="2000">
                <a:solidFill>
                  <a:srgbClr val="000000"/>
                </a:solidFill>
                <a:latin typeface="Arimo Bold"/>
                <a:ea typeface="Arimo Bold"/>
                <a:cs typeface="Arimo Bold"/>
                <a:sym typeface="Arimo Bold"/>
              </a:rPr>
              <a:t>Thanh toán online</a:t>
            </a:r>
          </a:p>
          <a:p>
            <a:pPr algn="just" marL="431801" indent="-215900" lvl="1">
              <a:lnSpc>
                <a:spcPts val="2400"/>
              </a:lnSpc>
              <a:buFont typeface="Arial"/>
              <a:buChar char="•"/>
            </a:pPr>
            <a:r>
              <a:rPr lang="en-US" b="true" sz="2000">
                <a:solidFill>
                  <a:srgbClr val="000000"/>
                </a:solidFill>
                <a:latin typeface="Arimo Bold"/>
                <a:ea typeface="Arimo Bold"/>
                <a:cs typeface="Arimo Bold"/>
                <a:sym typeface="Arimo Bold"/>
              </a:rPr>
              <a:t>Quản lý đơn hàng</a:t>
            </a:r>
          </a:p>
          <a:p>
            <a:pPr algn="just">
              <a:lnSpc>
                <a:spcPts val="2400"/>
              </a:lnSpc>
              <a:spcBef>
                <a:spcPct val="0"/>
              </a:spcBef>
            </a:pPr>
          </a:p>
        </p:txBody>
      </p:sp>
      <p:sp>
        <p:nvSpPr>
          <p:cNvPr name="TextBox 9" id="9"/>
          <p:cNvSpPr txBox="true"/>
          <p:nvPr/>
        </p:nvSpPr>
        <p:spPr>
          <a:xfrm rot="0">
            <a:off x="9966188" y="2740548"/>
            <a:ext cx="5086317" cy="1838325"/>
          </a:xfrm>
          <a:prstGeom prst="rect">
            <a:avLst/>
          </a:prstGeom>
        </p:spPr>
        <p:txBody>
          <a:bodyPr anchor="t" rtlCol="false" tIns="0" lIns="0" bIns="0" rIns="0">
            <a:spAutoFit/>
          </a:bodyPr>
          <a:lstStyle/>
          <a:p>
            <a:pPr algn="just">
              <a:lnSpc>
                <a:spcPts val="2400"/>
              </a:lnSpc>
            </a:pPr>
            <a:r>
              <a:rPr lang="en-US" sz="2000" b="true">
                <a:solidFill>
                  <a:srgbClr val="000000"/>
                </a:solidFill>
                <a:latin typeface="Arimo Bold"/>
                <a:ea typeface="Arimo Bold"/>
                <a:cs typeface="Arimo Bold"/>
                <a:sym typeface="Arimo Bold"/>
              </a:rPr>
              <a:t>2.Giao diện </a:t>
            </a:r>
            <a:r>
              <a:rPr lang="en-US" sz="2000" b="true">
                <a:solidFill>
                  <a:srgbClr val="000000"/>
                </a:solidFill>
                <a:latin typeface="Arimo Bold"/>
                <a:ea typeface="Arimo Bold"/>
                <a:cs typeface="Arimo Bold"/>
                <a:sym typeface="Arimo Bold"/>
              </a:rPr>
              <a:t>thân thiện và hiện đại</a:t>
            </a:r>
          </a:p>
          <a:p>
            <a:pPr algn="l" marL="431801" indent="-215900" lvl="1">
              <a:lnSpc>
                <a:spcPts val="2400"/>
              </a:lnSpc>
              <a:buFont typeface="Arial"/>
              <a:buChar char="•"/>
            </a:pPr>
            <a:r>
              <a:rPr lang="en-US" b="true" sz="2000">
                <a:solidFill>
                  <a:srgbClr val="000000"/>
                </a:solidFill>
                <a:latin typeface="Arimo Bold"/>
                <a:ea typeface="Arimo Bold"/>
                <a:cs typeface="Arimo Bold"/>
                <a:sym typeface="Arimo Bold"/>
              </a:rPr>
              <a:t>Giao diện trực quan</a:t>
            </a:r>
          </a:p>
          <a:p>
            <a:pPr algn="l" marL="431801" indent="-215900" lvl="1">
              <a:lnSpc>
                <a:spcPts val="2400"/>
              </a:lnSpc>
              <a:buFont typeface="Arial"/>
              <a:buChar char="•"/>
            </a:pPr>
            <a:r>
              <a:rPr lang="en-US" b="true" sz="2000">
                <a:solidFill>
                  <a:srgbClr val="000000"/>
                </a:solidFill>
                <a:latin typeface="Arimo Bold"/>
                <a:ea typeface="Arimo Bold"/>
                <a:cs typeface="Arimo Bold"/>
                <a:sym typeface="Arimo Bold"/>
              </a:rPr>
              <a:t>Dễ sử dụng</a:t>
            </a:r>
          </a:p>
          <a:p>
            <a:pPr algn="l" marL="431801" indent="-215900" lvl="1">
              <a:lnSpc>
                <a:spcPts val="2400"/>
              </a:lnSpc>
              <a:buFont typeface="Arial"/>
              <a:buChar char="•"/>
            </a:pPr>
            <a:r>
              <a:rPr lang="en-US" b="true" sz="2000">
                <a:solidFill>
                  <a:srgbClr val="000000"/>
                </a:solidFill>
                <a:latin typeface="Arimo Bold"/>
                <a:ea typeface="Arimo Bold"/>
                <a:cs typeface="Arimo Bold"/>
                <a:sym typeface="Arimo Bold"/>
              </a:rPr>
              <a:t>Respons</a:t>
            </a:r>
            <a:r>
              <a:rPr lang="en-US" b="true" sz="2000">
                <a:solidFill>
                  <a:srgbClr val="000000"/>
                </a:solidFill>
                <a:latin typeface="Arimo Bold"/>
                <a:ea typeface="Arimo Bold"/>
                <a:cs typeface="Arimo Bold"/>
                <a:sym typeface="Arimo Bold"/>
              </a:rPr>
              <a:t>ive trên nhiều thiết bị</a:t>
            </a:r>
          </a:p>
          <a:p>
            <a:pPr algn="l" marL="431801" indent="-215900" lvl="1">
              <a:lnSpc>
                <a:spcPts val="2400"/>
              </a:lnSpc>
              <a:buFont typeface="Arial"/>
              <a:buChar char="•"/>
            </a:pPr>
            <a:r>
              <a:rPr lang="en-US" b="true" sz="2000">
                <a:solidFill>
                  <a:srgbClr val="000000"/>
                </a:solidFill>
                <a:latin typeface="Arimo Bold"/>
                <a:ea typeface="Arimo Bold"/>
                <a:cs typeface="Arimo Bold"/>
                <a:sym typeface="Arimo Bold"/>
              </a:rPr>
              <a:t>Phù hợp với đối tượng khách hàng trẻ và yêu thích lối sống xanh</a:t>
            </a:r>
          </a:p>
        </p:txBody>
      </p:sp>
      <p:sp>
        <p:nvSpPr>
          <p:cNvPr name="TextBox 10" id="10"/>
          <p:cNvSpPr txBox="true"/>
          <p:nvPr/>
        </p:nvSpPr>
        <p:spPr>
          <a:xfrm rot="0">
            <a:off x="5610359" y="6252621"/>
            <a:ext cx="5086317" cy="2143125"/>
          </a:xfrm>
          <a:prstGeom prst="rect">
            <a:avLst/>
          </a:prstGeom>
        </p:spPr>
        <p:txBody>
          <a:bodyPr anchor="t" rtlCol="false" tIns="0" lIns="0" bIns="0" rIns="0">
            <a:spAutoFit/>
          </a:bodyPr>
          <a:lstStyle/>
          <a:p>
            <a:pPr algn="just">
              <a:lnSpc>
                <a:spcPts val="2400"/>
              </a:lnSpc>
            </a:pPr>
            <a:r>
              <a:rPr lang="en-US" sz="2000" b="true">
                <a:solidFill>
                  <a:srgbClr val="000000"/>
                </a:solidFill>
                <a:latin typeface="Arimo Bold"/>
                <a:ea typeface="Arimo Bold"/>
                <a:cs typeface="Arimo Bold"/>
                <a:sym typeface="Arimo Bold"/>
              </a:rPr>
              <a:t>4.Tích hợp thanh toán trực tuyến</a:t>
            </a:r>
          </a:p>
          <a:p>
            <a:pPr algn="l" marL="431801" indent="-215900" lvl="1">
              <a:lnSpc>
                <a:spcPts val="2400"/>
              </a:lnSpc>
              <a:buFont typeface="Arial"/>
              <a:buChar char="•"/>
            </a:pPr>
            <a:r>
              <a:rPr lang="en-US" b="true" sz="2000">
                <a:solidFill>
                  <a:srgbClr val="000000"/>
                </a:solidFill>
                <a:latin typeface="Arimo Bold"/>
                <a:ea typeface="Arimo Bold"/>
                <a:cs typeface="Arimo Bold"/>
                <a:sym typeface="Arimo Bold"/>
              </a:rPr>
              <a:t>Hệ thống đã tích hợp cổng thanh toán VNPay giúp:</a:t>
            </a:r>
          </a:p>
          <a:p>
            <a:pPr algn="l" marL="431801" indent="-215900" lvl="1">
              <a:lnSpc>
                <a:spcPts val="2400"/>
              </a:lnSpc>
              <a:buFont typeface="Arial"/>
              <a:buChar char="•"/>
            </a:pPr>
            <a:r>
              <a:rPr lang="en-US" b="true" sz="2000">
                <a:solidFill>
                  <a:srgbClr val="000000"/>
                </a:solidFill>
                <a:latin typeface="Arimo Bold"/>
                <a:ea typeface="Arimo Bold"/>
                <a:cs typeface="Arimo Bold"/>
                <a:sym typeface="Arimo Bold"/>
              </a:rPr>
              <a:t>Tha</a:t>
            </a:r>
            <a:r>
              <a:rPr lang="en-US" b="true" sz="2000">
                <a:solidFill>
                  <a:srgbClr val="000000"/>
                </a:solidFill>
                <a:latin typeface="Arimo Bold"/>
                <a:ea typeface="Arimo Bold"/>
                <a:cs typeface="Arimo Bold"/>
                <a:sym typeface="Arimo Bold"/>
              </a:rPr>
              <a:t>nh toán nhanh chóng</a:t>
            </a:r>
          </a:p>
          <a:p>
            <a:pPr algn="l" marL="431801" indent="-215900" lvl="1">
              <a:lnSpc>
                <a:spcPts val="2400"/>
              </a:lnSpc>
              <a:buFont typeface="Arial"/>
              <a:buChar char="•"/>
            </a:pPr>
            <a:r>
              <a:rPr lang="en-US" b="true" sz="2000">
                <a:solidFill>
                  <a:srgbClr val="000000"/>
                </a:solidFill>
                <a:latin typeface="Arimo Bold"/>
                <a:ea typeface="Arimo Bold"/>
                <a:cs typeface="Arimo Bold"/>
                <a:sym typeface="Arimo Bold"/>
              </a:rPr>
              <a:t>Tự động cập nhật trạng thái đơn hàng</a:t>
            </a:r>
          </a:p>
          <a:p>
            <a:pPr algn="l" marL="431801" indent="-215900" lvl="1">
              <a:lnSpc>
                <a:spcPts val="2400"/>
              </a:lnSpc>
              <a:buFont typeface="Arial"/>
              <a:buChar char="•"/>
            </a:pPr>
            <a:r>
              <a:rPr lang="en-US" b="true" sz="2000">
                <a:solidFill>
                  <a:srgbClr val="000000"/>
                </a:solidFill>
                <a:latin typeface="Arimo Bold"/>
                <a:ea typeface="Arimo Bold"/>
                <a:cs typeface="Arimo Bold"/>
                <a:sym typeface="Arimo Bold"/>
              </a:rPr>
              <a:t>Nâ</a:t>
            </a:r>
            <a:r>
              <a:rPr lang="en-US" b="true" sz="2000">
                <a:solidFill>
                  <a:srgbClr val="000000"/>
                </a:solidFill>
                <a:latin typeface="Arimo Bold"/>
                <a:ea typeface="Arimo Bold"/>
                <a:cs typeface="Arimo Bold"/>
                <a:sym typeface="Arimo Bold"/>
              </a:rPr>
              <a:t>ng cao trải nghiệm người dùng</a:t>
            </a:r>
          </a:p>
          <a:p>
            <a:pPr algn="just">
              <a:lnSpc>
                <a:spcPts val="2400"/>
              </a:lnSpc>
              <a:spcBef>
                <a:spcPct val="0"/>
              </a:spcBef>
            </a:pPr>
          </a:p>
        </p:txBody>
      </p:sp>
      <p:sp>
        <p:nvSpPr>
          <p:cNvPr name="TextBox 11" id="11"/>
          <p:cNvSpPr txBox="true"/>
          <p:nvPr/>
        </p:nvSpPr>
        <p:spPr>
          <a:xfrm rot="0">
            <a:off x="524042" y="6252621"/>
            <a:ext cx="5086317" cy="2752725"/>
          </a:xfrm>
          <a:prstGeom prst="rect">
            <a:avLst/>
          </a:prstGeom>
        </p:spPr>
        <p:txBody>
          <a:bodyPr anchor="t" rtlCol="false" tIns="0" lIns="0" bIns="0" rIns="0">
            <a:spAutoFit/>
          </a:bodyPr>
          <a:lstStyle/>
          <a:p>
            <a:pPr algn="just">
              <a:lnSpc>
                <a:spcPts val="2400"/>
              </a:lnSpc>
            </a:pPr>
            <a:r>
              <a:rPr lang="en-US" sz="2000" b="true">
                <a:solidFill>
                  <a:srgbClr val="000000"/>
                </a:solidFill>
                <a:latin typeface="Arimo Bold"/>
                <a:ea typeface="Arimo Bold"/>
                <a:cs typeface="Arimo Bold"/>
                <a:sym typeface="Arimo Bold"/>
              </a:rPr>
              <a:t>3.Hỗ trợ quản trị h</a:t>
            </a:r>
            <a:r>
              <a:rPr lang="en-US" sz="2000" b="true">
                <a:solidFill>
                  <a:srgbClr val="000000"/>
                </a:solidFill>
                <a:latin typeface="Arimo Bold"/>
                <a:ea typeface="Arimo Bold"/>
                <a:cs typeface="Arimo Bold"/>
                <a:sym typeface="Arimo Bold"/>
              </a:rPr>
              <a:t>ệ thống</a:t>
            </a:r>
          </a:p>
          <a:p>
            <a:pPr algn="l" marL="431801" indent="-215900" lvl="1">
              <a:lnSpc>
                <a:spcPts val="2400"/>
              </a:lnSpc>
              <a:buFont typeface="Arial"/>
              <a:buChar char="•"/>
            </a:pPr>
            <a:r>
              <a:rPr lang="en-US" b="true" sz="2000">
                <a:solidFill>
                  <a:srgbClr val="000000"/>
                </a:solidFill>
                <a:latin typeface="Arimo Bold"/>
                <a:ea typeface="Arimo Bold"/>
                <a:cs typeface="Arimo Bold"/>
                <a:sym typeface="Arimo Bold"/>
              </a:rPr>
              <a:t>Trang quản trị giúp doanh nghiệp:</a:t>
            </a:r>
          </a:p>
          <a:p>
            <a:pPr algn="l" marL="431801" indent="-215900" lvl="1">
              <a:lnSpc>
                <a:spcPts val="2400"/>
              </a:lnSpc>
              <a:buFont typeface="Arial"/>
              <a:buChar char="•"/>
            </a:pPr>
            <a:r>
              <a:rPr lang="en-US" b="true" sz="2000">
                <a:solidFill>
                  <a:srgbClr val="000000"/>
                </a:solidFill>
                <a:latin typeface="Arimo Bold"/>
                <a:ea typeface="Arimo Bold"/>
                <a:cs typeface="Arimo Bold"/>
                <a:sym typeface="Arimo Bold"/>
              </a:rPr>
              <a:t>Qu</a:t>
            </a:r>
            <a:r>
              <a:rPr lang="en-US" b="true" sz="2000">
                <a:solidFill>
                  <a:srgbClr val="000000"/>
                </a:solidFill>
                <a:latin typeface="Arimo Bold"/>
                <a:ea typeface="Arimo Bold"/>
                <a:cs typeface="Arimo Bold"/>
                <a:sym typeface="Arimo Bold"/>
              </a:rPr>
              <a:t>ản lý sản phẩm</a:t>
            </a:r>
          </a:p>
          <a:p>
            <a:pPr algn="l" marL="431801" indent="-215900" lvl="1">
              <a:lnSpc>
                <a:spcPts val="2400"/>
              </a:lnSpc>
              <a:buFont typeface="Arial"/>
              <a:buChar char="•"/>
            </a:pPr>
            <a:r>
              <a:rPr lang="en-US" b="true" sz="2000">
                <a:solidFill>
                  <a:srgbClr val="000000"/>
                </a:solidFill>
                <a:latin typeface="Arimo Bold"/>
                <a:ea typeface="Arimo Bold"/>
                <a:cs typeface="Arimo Bold"/>
                <a:sym typeface="Arimo Bold"/>
              </a:rPr>
              <a:t>Quản lý người dùng</a:t>
            </a:r>
          </a:p>
          <a:p>
            <a:pPr algn="l" marL="431801" indent="-215900" lvl="1">
              <a:lnSpc>
                <a:spcPts val="2400"/>
              </a:lnSpc>
              <a:buFont typeface="Arial"/>
              <a:buChar char="•"/>
            </a:pPr>
            <a:r>
              <a:rPr lang="en-US" b="true" sz="2000">
                <a:solidFill>
                  <a:srgbClr val="000000"/>
                </a:solidFill>
                <a:latin typeface="Arimo Bold"/>
                <a:ea typeface="Arimo Bold"/>
                <a:cs typeface="Arimo Bold"/>
                <a:sym typeface="Arimo Bold"/>
              </a:rPr>
              <a:t>Quả</a:t>
            </a:r>
            <a:r>
              <a:rPr lang="en-US" b="true" sz="2000">
                <a:solidFill>
                  <a:srgbClr val="000000"/>
                </a:solidFill>
                <a:latin typeface="Arimo Bold"/>
                <a:ea typeface="Arimo Bold"/>
                <a:cs typeface="Arimo Bold"/>
                <a:sym typeface="Arimo Bold"/>
              </a:rPr>
              <a:t>n lý thanh toán</a:t>
            </a:r>
          </a:p>
          <a:p>
            <a:pPr algn="l" marL="431801" indent="-215900" lvl="1">
              <a:lnSpc>
                <a:spcPts val="2400"/>
              </a:lnSpc>
              <a:buFont typeface="Arial"/>
              <a:buChar char="•"/>
            </a:pPr>
            <a:r>
              <a:rPr lang="en-US" b="true" sz="2000">
                <a:solidFill>
                  <a:srgbClr val="000000"/>
                </a:solidFill>
                <a:latin typeface="Arimo Bold"/>
                <a:ea typeface="Arimo Bold"/>
                <a:cs typeface="Arimo Bold"/>
                <a:sym typeface="Arimo Bold"/>
              </a:rPr>
              <a:t>Xem thống kê doanh thu</a:t>
            </a:r>
          </a:p>
          <a:p>
            <a:pPr algn="l" marL="431801" indent="-215900" lvl="1">
              <a:lnSpc>
                <a:spcPts val="2400"/>
              </a:lnSpc>
              <a:buFont typeface="Arial"/>
              <a:buChar char="•"/>
            </a:pPr>
            <a:r>
              <a:rPr lang="en-US" b="true" sz="2000">
                <a:solidFill>
                  <a:srgbClr val="000000"/>
                </a:solidFill>
                <a:latin typeface="Arimo Bold"/>
                <a:ea typeface="Arimo Bold"/>
                <a:cs typeface="Arimo Bold"/>
                <a:sym typeface="Arimo Bold"/>
              </a:rPr>
              <a:t>một cách hiệu q</a:t>
            </a:r>
            <a:r>
              <a:rPr lang="en-US" b="true" sz="2000">
                <a:solidFill>
                  <a:srgbClr val="000000"/>
                </a:solidFill>
                <a:latin typeface="Arimo Bold"/>
                <a:ea typeface="Arimo Bold"/>
                <a:cs typeface="Arimo Bold"/>
                <a:sym typeface="Arimo Bold"/>
              </a:rPr>
              <a:t>uả hơn so với phương pháp thủ công trước đây.</a:t>
            </a:r>
          </a:p>
          <a:p>
            <a:pPr algn="just">
              <a:lnSpc>
                <a:spcPts val="2400"/>
              </a:lnSpc>
              <a:spcBef>
                <a:spcPct val="0"/>
              </a:spcBef>
            </a:pPr>
          </a:p>
        </p:txBody>
      </p:sp>
      <p:sp>
        <p:nvSpPr>
          <p:cNvPr name="TextBox 12" id="12"/>
          <p:cNvSpPr txBox="true"/>
          <p:nvPr/>
        </p:nvSpPr>
        <p:spPr>
          <a:xfrm rot="0">
            <a:off x="11068151" y="5338221"/>
            <a:ext cx="5226515" cy="3057525"/>
          </a:xfrm>
          <a:prstGeom prst="rect">
            <a:avLst/>
          </a:prstGeom>
        </p:spPr>
        <p:txBody>
          <a:bodyPr anchor="t" rtlCol="false" tIns="0" lIns="0" bIns="0" rIns="0">
            <a:spAutoFit/>
          </a:bodyPr>
          <a:lstStyle/>
          <a:p>
            <a:pPr algn="just">
              <a:lnSpc>
                <a:spcPts val="2400"/>
              </a:lnSpc>
            </a:pPr>
            <a:r>
              <a:rPr lang="en-US" sz="2000" b="true">
                <a:solidFill>
                  <a:srgbClr val="000000"/>
                </a:solidFill>
                <a:latin typeface="Arimo Bold"/>
                <a:ea typeface="Arimo Bold"/>
                <a:cs typeface="Arimo Bold"/>
                <a:sym typeface="Arimo Bold"/>
              </a:rPr>
              <a:t>5.Tăng tính chuyên</a:t>
            </a:r>
            <a:r>
              <a:rPr lang="en-US" sz="2000" b="true">
                <a:solidFill>
                  <a:srgbClr val="000000"/>
                </a:solidFill>
                <a:latin typeface="Arimo Bold"/>
                <a:ea typeface="Arimo Bold"/>
                <a:cs typeface="Arimo Bold"/>
                <a:sym typeface="Arimo Bold"/>
              </a:rPr>
              <a:t> nghiệp cho doanh nghiệp</a:t>
            </a:r>
          </a:p>
          <a:p>
            <a:pPr algn="just">
              <a:lnSpc>
                <a:spcPts val="2400"/>
              </a:lnSpc>
            </a:pPr>
            <a:r>
              <a:rPr lang="en-US" sz="2000" b="true">
                <a:solidFill>
                  <a:srgbClr val="000000"/>
                </a:solidFill>
                <a:latin typeface="Arimo Bold"/>
                <a:ea typeface="Arimo Bold"/>
                <a:cs typeface="Arimo Bold"/>
                <a:sym typeface="Arimo Bold"/>
              </a:rPr>
              <a:t>Việc sở hữu website TMĐT riêng giúp GreenLife Store:</a:t>
            </a:r>
          </a:p>
          <a:p>
            <a:pPr algn="just" marL="431801" indent="-215900" lvl="1">
              <a:lnSpc>
                <a:spcPts val="2400"/>
              </a:lnSpc>
              <a:buFont typeface="Arial"/>
              <a:buChar char="•"/>
            </a:pPr>
            <a:r>
              <a:rPr lang="en-US" b="true" sz="2000">
                <a:solidFill>
                  <a:srgbClr val="000000"/>
                </a:solidFill>
                <a:latin typeface="Arimo Bold"/>
                <a:ea typeface="Arimo Bold"/>
                <a:cs typeface="Arimo Bold"/>
                <a:sym typeface="Arimo Bold"/>
              </a:rPr>
              <a:t>Xây dựng hì</a:t>
            </a:r>
            <a:r>
              <a:rPr lang="en-US" b="true" sz="2000">
                <a:solidFill>
                  <a:srgbClr val="000000"/>
                </a:solidFill>
                <a:latin typeface="Arimo Bold"/>
                <a:ea typeface="Arimo Bold"/>
                <a:cs typeface="Arimo Bold"/>
                <a:sym typeface="Arimo Bold"/>
              </a:rPr>
              <a:t>nh ảnh thương hiệu chuyên nghiệp</a:t>
            </a:r>
          </a:p>
          <a:p>
            <a:pPr algn="just" marL="431801" indent="-215900" lvl="1">
              <a:lnSpc>
                <a:spcPts val="2400"/>
              </a:lnSpc>
              <a:buFont typeface="Arial"/>
              <a:buChar char="•"/>
            </a:pPr>
            <a:r>
              <a:rPr lang="en-US" b="true" sz="2000">
                <a:solidFill>
                  <a:srgbClr val="000000"/>
                </a:solidFill>
                <a:latin typeface="Arimo Bold"/>
                <a:ea typeface="Arimo Bold"/>
                <a:cs typeface="Arimo Bold"/>
                <a:sym typeface="Arimo Bold"/>
              </a:rPr>
              <a:t>Tăng độ uy tín với khách hàng</a:t>
            </a:r>
          </a:p>
          <a:p>
            <a:pPr algn="just" marL="431801" indent="-215900" lvl="1">
              <a:lnSpc>
                <a:spcPts val="2400"/>
              </a:lnSpc>
              <a:buFont typeface="Arial"/>
              <a:buChar char="•"/>
            </a:pPr>
            <a:r>
              <a:rPr lang="en-US" b="true" sz="2000">
                <a:solidFill>
                  <a:srgbClr val="000000"/>
                </a:solidFill>
                <a:latin typeface="Arimo Bold"/>
                <a:ea typeface="Arimo Bold"/>
                <a:cs typeface="Arimo Bold"/>
                <a:sym typeface="Arimo Bold"/>
              </a:rPr>
              <a:t>Mở</a:t>
            </a:r>
            <a:r>
              <a:rPr lang="en-US" b="true" sz="2000">
                <a:solidFill>
                  <a:srgbClr val="000000"/>
                </a:solidFill>
                <a:latin typeface="Arimo Bold"/>
                <a:ea typeface="Arimo Bold"/>
                <a:cs typeface="Arimo Bold"/>
                <a:sym typeface="Arimo Bold"/>
              </a:rPr>
              <a:t> rộng khả năng kinh doanh trực tuyến</a:t>
            </a:r>
          </a:p>
          <a:p>
            <a:pPr algn="just">
              <a:lnSpc>
                <a:spcPts val="240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8D9A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08972" cy="10287002"/>
          </a:xfrm>
          <a:custGeom>
            <a:avLst/>
            <a:gdLst/>
            <a:ahLst/>
            <a:cxnLst/>
            <a:rect r="r" b="b" t="t" l="l"/>
            <a:pathLst>
              <a:path h="10287002" w="18208972">
                <a:moveTo>
                  <a:pt x="0" y="0"/>
                </a:moveTo>
                <a:lnTo>
                  <a:pt x="18208972" y="0"/>
                </a:lnTo>
                <a:lnTo>
                  <a:pt x="18208972" y="10287002"/>
                </a:lnTo>
                <a:lnTo>
                  <a:pt x="0" y="10287002"/>
                </a:lnTo>
                <a:lnTo>
                  <a:pt x="0" y="0"/>
                </a:lnTo>
                <a:close/>
              </a:path>
            </a:pathLst>
          </a:custGeom>
          <a:blipFill>
            <a:blip r:embed="rId3"/>
            <a:stretch>
              <a:fillRect l="0" t="0" r="0" b="0"/>
            </a:stretch>
          </a:blipFill>
        </p:spPr>
      </p:sp>
      <p:sp>
        <p:nvSpPr>
          <p:cNvPr name="Freeform 3" id="3"/>
          <p:cNvSpPr/>
          <p:nvPr/>
        </p:nvSpPr>
        <p:spPr>
          <a:xfrm flipH="false" flipV="false" rot="0">
            <a:off x="16466198" y="7615411"/>
            <a:ext cx="3126073" cy="3194224"/>
          </a:xfrm>
          <a:custGeom>
            <a:avLst/>
            <a:gdLst/>
            <a:ahLst/>
            <a:cxnLst/>
            <a:rect r="r" b="b" t="t" l="l"/>
            <a:pathLst>
              <a:path h="3194224" w="3126073">
                <a:moveTo>
                  <a:pt x="0" y="0"/>
                </a:moveTo>
                <a:lnTo>
                  <a:pt x="3126073" y="0"/>
                </a:lnTo>
                <a:lnTo>
                  <a:pt x="3126073" y="3194225"/>
                </a:lnTo>
                <a:lnTo>
                  <a:pt x="0" y="31942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19303" y="7876862"/>
            <a:ext cx="3078555" cy="3160091"/>
          </a:xfrm>
          <a:custGeom>
            <a:avLst/>
            <a:gdLst/>
            <a:ahLst/>
            <a:cxnLst/>
            <a:rect r="r" b="b" t="t" l="l"/>
            <a:pathLst>
              <a:path h="3160091" w="3078555">
                <a:moveTo>
                  <a:pt x="0" y="0"/>
                </a:moveTo>
                <a:lnTo>
                  <a:pt x="3078555" y="0"/>
                </a:lnTo>
                <a:lnTo>
                  <a:pt x="3078555" y="3160090"/>
                </a:lnTo>
                <a:lnTo>
                  <a:pt x="0" y="31600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923318" y="-809604"/>
            <a:ext cx="3554338" cy="3640646"/>
          </a:xfrm>
          <a:custGeom>
            <a:avLst/>
            <a:gdLst/>
            <a:ahLst/>
            <a:cxnLst/>
            <a:rect r="r" b="b" t="t" l="l"/>
            <a:pathLst>
              <a:path h="3640646" w="3554338">
                <a:moveTo>
                  <a:pt x="0" y="0"/>
                </a:moveTo>
                <a:lnTo>
                  <a:pt x="3554338" y="0"/>
                </a:lnTo>
                <a:lnTo>
                  <a:pt x="3554338" y="3640646"/>
                </a:lnTo>
                <a:lnTo>
                  <a:pt x="0" y="36406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6310159" y="-781531"/>
            <a:ext cx="4183490" cy="2417469"/>
          </a:xfrm>
          <a:custGeom>
            <a:avLst/>
            <a:gdLst/>
            <a:ahLst/>
            <a:cxnLst/>
            <a:rect r="r" b="b" t="t" l="l"/>
            <a:pathLst>
              <a:path h="2417469" w="4183490">
                <a:moveTo>
                  <a:pt x="0" y="0"/>
                </a:moveTo>
                <a:lnTo>
                  <a:pt x="4183491" y="0"/>
                </a:lnTo>
                <a:lnTo>
                  <a:pt x="4183491" y="2417469"/>
                </a:lnTo>
                <a:lnTo>
                  <a:pt x="0" y="24174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3459800" y="-599550"/>
            <a:ext cx="10584616" cy="11877284"/>
          </a:xfrm>
          <a:custGeom>
            <a:avLst/>
            <a:gdLst/>
            <a:ahLst/>
            <a:cxnLst/>
            <a:rect r="r" b="b" t="t" l="l"/>
            <a:pathLst>
              <a:path h="11877284" w="10584616">
                <a:moveTo>
                  <a:pt x="0" y="0"/>
                </a:moveTo>
                <a:lnTo>
                  <a:pt x="10584616" y="0"/>
                </a:lnTo>
                <a:lnTo>
                  <a:pt x="10584616" y="11877284"/>
                </a:lnTo>
                <a:lnTo>
                  <a:pt x="0" y="1187728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5064850" y="-1930148"/>
            <a:ext cx="5322256" cy="4761200"/>
          </a:xfrm>
          <a:custGeom>
            <a:avLst/>
            <a:gdLst/>
            <a:ahLst/>
            <a:cxnLst/>
            <a:rect r="r" b="b" t="t" l="l"/>
            <a:pathLst>
              <a:path h="4761200" w="5322256">
                <a:moveTo>
                  <a:pt x="0" y="0"/>
                </a:moveTo>
                <a:lnTo>
                  <a:pt x="5322256" y="0"/>
                </a:lnTo>
                <a:lnTo>
                  <a:pt x="5322256" y="4761200"/>
                </a:lnTo>
                <a:lnTo>
                  <a:pt x="0" y="4761200"/>
                </a:lnTo>
                <a:lnTo>
                  <a:pt x="0" y="0"/>
                </a:lnTo>
                <a:close/>
              </a:path>
            </a:pathLst>
          </a:custGeom>
          <a:blipFill>
            <a:blip r:embed="rId14">
              <a:alphaModFix amt="50000"/>
            </a:blip>
            <a:stretch>
              <a:fillRect l="0" t="0" r="0" b="0"/>
            </a:stretch>
          </a:blipFill>
        </p:spPr>
      </p:sp>
      <p:sp>
        <p:nvSpPr>
          <p:cNvPr name="Freeform 9" id="9"/>
          <p:cNvSpPr/>
          <p:nvPr/>
        </p:nvSpPr>
        <p:spPr>
          <a:xfrm flipH="false" flipV="false" rot="0">
            <a:off x="15064850" y="6950552"/>
            <a:ext cx="5322256" cy="4761200"/>
          </a:xfrm>
          <a:custGeom>
            <a:avLst/>
            <a:gdLst/>
            <a:ahLst/>
            <a:cxnLst/>
            <a:rect r="r" b="b" t="t" l="l"/>
            <a:pathLst>
              <a:path h="4761200" w="5322256">
                <a:moveTo>
                  <a:pt x="0" y="0"/>
                </a:moveTo>
                <a:lnTo>
                  <a:pt x="5322256" y="0"/>
                </a:lnTo>
                <a:lnTo>
                  <a:pt x="5322256" y="4761200"/>
                </a:lnTo>
                <a:lnTo>
                  <a:pt x="0" y="4761200"/>
                </a:lnTo>
                <a:lnTo>
                  <a:pt x="0" y="0"/>
                </a:lnTo>
                <a:close/>
              </a:path>
            </a:pathLst>
          </a:custGeom>
          <a:blipFill>
            <a:blip r:embed="rId14">
              <a:alphaModFix amt="50000"/>
            </a:blip>
            <a:stretch>
              <a:fillRect l="0" t="0" r="0" b="0"/>
            </a:stretch>
          </a:blipFill>
        </p:spPr>
      </p:sp>
      <p:sp>
        <p:nvSpPr>
          <p:cNvPr name="Freeform 10" id="10"/>
          <p:cNvSpPr/>
          <p:nvPr/>
        </p:nvSpPr>
        <p:spPr>
          <a:xfrm flipH="false" flipV="false" rot="0">
            <a:off x="-526400" y="5015760"/>
            <a:ext cx="7485050" cy="6695990"/>
          </a:xfrm>
          <a:custGeom>
            <a:avLst/>
            <a:gdLst/>
            <a:ahLst/>
            <a:cxnLst/>
            <a:rect r="r" b="b" t="t" l="l"/>
            <a:pathLst>
              <a:path h="6695990" w="7485050">
                <a:moveTo>
                  <a:pt x="0" y="0"/>
                </a:moveTo>
                <a:lnTo>
                  <a:pt x="7485050" y="0"/>
                </a:lnTo>
                <a:lnTo>
                  <a:pt x="7485050" y="6695990"/>
                </a:lnTo>
                <a:lnTo>
                  <a:pt x="0" y="6695990"/>
                </a:lnTo>
                <a:lnTo>
                  <a:pt x="0" y="0"/>
                </a:lnTo>
                <a:close/>
              </a:path>
            </a:pathLst>
          </a:custGeom>
          <a:blipFill>
            <a:blip r:embed="rId14">
              <a:alphaModFix amt="50000"/>
            </a:blip>
            <a:stretch>
              <a:fillRect l="0" t="0" r="0" b="0"/>
            </a:stretch>
          </a:blipFill>
        </p:spPr>
      </p:sp>
      <p:sp>
        <p:nvSpPr>
          <p:cNvPr name="Freeform 11" id="11"/>
          <p:cNvSpPr/>
          <p:nvPr/>
        </p:nvSpPr>
        <p:spPr>
          <a:xfrm flipH="false" flipV="false" rot="0">
            <a:off x="-526400" y="-1651240"/>
            <a:ext cx="7485050" cy="6695990"/>
          </a:xfrm>
          <a:custGeom>
            <a:avLst/>
            <a:gdLst/>
            <a:ahLst/>
            <a:cxnLst/>
            <a:rect r="r" b="b" t="t" l="l"/>
            <a:pathLst>
              <a:path h="6695990" w="7485050">
                <a:moveTo>
                  <a:pt x="0" y="0"/>
                </a:moveTo>
                <a:lnTo>
                  <a:pt x="7485050" y="0"/>
                </a:lnTo>
                <a:lnTo>
                  <a:pt x="7485050" y="6695990"/>
                </a:lnTo>
                <a:lnTo>
                  <a:pt x="0" y="6695990"/>
                </a:lnTo>
                <a:lnTo>
                  <a:pt x="0" y="0"/>
                </a:lnTo>
                <a:close/>
              </a:path>
            </a:pathLst>
          </a:custGeom>
          <a:blipFill>
            <a:blip r:embed="rId14">
              <a:alphaModFix amt="50000"/>
            </a:blip>
            <a:stretch>
              <a:fillRect l="0" t="0" r="0" b="0"/>
            </a:stretch>
          </a:blipFill>
        </p:spPr>
      </p:sp>
      <p:sp>
        <p:nvSpPr>
          <p:cNvPr name="TextBox 12" id="12"/>
          <p:cNvSpPr txBox="true"/>
          <p:nvPr/>
        </p:nvSpPr>
        <p:spPr>
          <a:xfrm rot="0">
            <a:off x="3792734" y="750113"/>
            <a:ext cx="12517425" cy="885825"/>
          </a:xfrm>
          <a:prstGeom prst="rect">
            <a:avLst/>
          </a:prstGeom>
        </p:spPr>
        <p:txBody>
          <a:bodyPr anchor="t" rtlCol="false" tIns="0" lIns="0" bIns="0" rIns="0">
            <a:spAutoFit/>
          </a:bodyPr>
          <a:lstStyle/>
          <a:p>
            <a:pPr algn="ctr">
              <a:lnSpc>
                <a:spcPts val="6720"/>
              </a:lnSpc>
            </a:pPr>
            <a:r>
              <a:rPr lang="en-US" b="true" sz="5600">
                <a:solidFill>
                  <a:srgbClr val="1E3D28"/>
                </a:solidFill>
                <a:latin typeface="Arimo Bold"/>
                <a:ea typeface="Arimo Bold"/>
                <a:cs typeface="Arimo Bold"/>
                <a:sym typeface="Arimo Bold"/>
              </a:rPr>
              <a:t>Hướng Phát Triển Trong Tương Lai:</a:t>
            </a:r>
          </a:p>
        </p:txBody>
      </p:sp>
      <p:sp>
        <p:nvSpPr>
          <p:cNvPr name="Freeform 13" id="13"/>
          <p:cNvSpPr/>
          <p:nvPr/>
        </p:nvSpPr>
        <p:spPr>
          <a:xfrm flipH="false" flipV="false" rot="0">
            <a:off x="-150526" y="1635938"/>
            <a:ext cx="7169656" cy="8002484"/>
          </a:xfrm>
          <a:custGeom>
            <a:avLst/>
            <a:gdLst/>
            <a:ahLst/>
            <a:cxnLst/>
            <a:rect r="r" b="b" t="t" l="l"/>
            <a:pathLst>
              <a:path h="8002484" w="7169656">
                <a:moveTo>
                  <a:pt x="0" y="0"/>
                </a:moveTo>
                <a:lnTo>
                  <a:pt x="7169656" y="0"/>
                </a:lnTo>
                <a:lnTo>
                  <a:pt x="7169656" y="8002484"/>
                </a:lnTo>
                <a:lnTo>
                  <a:pt x="0" y="80024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4" id="14"/>
          <p:cNvSpPr txBox="true"/>
          <p:nvPr/>
        </p:nvSpPr>
        <p:spPr>
          <a:xfrm rot="0">
            <a:off x="6958650" y="3274091"/>
            <a:ext cx="10516872" cy="3512743"/>
          </a:xfrm>
          <a:prstGeom prst="rect">
            <a:avLst/>
          </a:prstGeom>
        </p:spPr>
        <p:txBody>
          <a:bodyPr anchor="t" rtlCol="false" tIns="0" lIns="0" bIns="0" rIns="0">
            <a:spAutoFit/>
          </a:bodyPr>
          <a:lstStyle/>
          <a:p>
            <a:pPr algn="l" marL="825877" indent="-412939" lvl="1">
              <a:lnSpc>
                <a:spcPts val="4590"/>
              </a:lnSpc>
              <a:buFont typeface="Arial"/>
              <a:buChar char="•"/>
            </a:pPr>
            <a:r>
              <a:rPr lang="en-US" sz="3825">
                <a:solidFill>
                  <a:srgbClr val="1E3D28"/>
                </a:solidFill>
                <a:latin typeface="Poppins"/>
                <a:ea typeface="Poppins"/>
                <a:cs typeface="Poppins"/>
                <a:sym typeface="Poppins"/>
              </a:rPr>
              <a:t>Mở rộng thêm phương thức thanh toán:</a:t>
            </a:r>
          </a:p>
          <a:p>
            <a:pPr algn="l">
              <a:lnSpc>
                <a:spcPts val="4590"/>
              </a:lnSpc>
            </a:pPr>
            <a:r>
              <a:rPr lang="en-US" sz="3825">
                <a:solidFill>
                  <a:srgbClr val="1E3D28"/>
                </a:solidFill>
                <a:latin typeface="Poppins"/>
                <a:ea typeface="Poppins"/>
                <a:cs typeface="Poppins"/>
                <a:sym typeface="Poppins"/>
              </a:rPr>
              <a:t>          Momo, Paypal, ...</a:t>
            </a:r>
          </a:p>
          <a:p>
            <a:pPr algn="l" marL="825877" indent="-412939" lvl="1">
              <a:lnSpc>
                <a:spcPts val="4590"/>
              </a:lnSpc>
              <a:buFont typeface="Arial"/>
              <a:buChar char="•"/>
            </a:pPr>
            <a:r>
              <a:rPr lang="en-US" sz="3825">
                <a:solidFill>
                  <a:srgbClr val="1E3D28"/>
                </a:solidFill>
                <a:latin typeface="Poppins"/>
                <a:ea typeface="Poppins"/>
                <a:cs typeface="Poppins"/>
                <a:sym typeface="Poppins"/>
              </a:rPr>
              <a:t>Phát triển trên các thiết bị di động</a:t>
            </a:r>
          </a:p>
          <a:p>
            <a:pPr algn="l" marL="825877" indent="-412939" lvl="1">
              <a:lnSpc>
                <a:spcPts val="4590"/>
              </a:lnSpc>
              <a:buFont typeface="Arial"/>
              <a:buChar char="•"/>
            </a:pPr>
            <a:r>
              <a:rPr lang="en-US" sz="3825">
                <a:solidFill>
                  <a:srgbClr val="1E3D28"/>
                </a:solidFill>
                <a:latin typeface="Poppins"/>
                <a:ea typeface="Poppins"/>
                <a:cs typeface="Poppins"/>
                <a:sym typeface="Poppins"/>
              </a:rPr>
              <a:t>Áp Dụng AI để đề xuất sản phẩm</a:t>
            </a:r>
          </a:p>
          <a:p>
            <a:pPr algn="l" marL="825877" indent="-412939" lvl="1">
              <a:lnSpc>
                <a:spcPts val="4590"/>
              </a:lnSpc>
              <a:buFont typeface="Arial"/>
              <a:buChar char="•"/>
            </a:pPr>
            <a:r>
              <a:rPr lang="en-US" sz="3825">
                <a:solidFill>
                  <a:srgbClr val="1E3D28"/>
                </a:solidFill>
                <a:latin typeface="Poppins"/>
                <a:ea typeface="Poppins"/>
                <a:cs typeface="Poppins"/>
                <a:sym typeface="Poppins"/>
              </a:rPr>
              <a:t>Sử dụng Chat Box để hỗ trợ khách hàng</a:t>
            </a:r>
          </a:p>
          <a:p>
            <a:pPr algn="l" marL="825877" indent="-412939" lvl="1">
              <a:lnSpc>
                <a:spcPts val="4590"/>
              </a:lnSpc>
              <a:buFont typeface="Arial"/>
              <a:buChar char="•"/>
            </a:pPr>
            <a:r>
              <a:rPr lang="en-US" sz="3825">
                <a:solidFill>
                  <a:srgbClr val="1E3D28"/>
                </a:solidFill>
                <a:latin typeface="Poppins"/>
                <a:ea typeface="Poppins"/>
                <a:cs typeface="Poppins"/>
                <a:sym typeface="Poppins"/>
              </a:rPr>
              <a:t>Tối ưu SEO và Marketing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C8D9AD"/>
        </a:solidFill>
      </p:bgPr>
    </p:bg>
    <p:spTree>
      <p:nvGrpSpPr>
        <p:cNvPr id="1" name=""/>
        <p:cNvGrpSpPr/>
        <p:nvPr/>
      </p:nvGrpSpPr>
      <p:grpSpPr>
        <a:xfrm>
          <a:off x="0" y="0"/>
          <a:ext cx="0" cy="0"/>
          <a:chOff x="0" y="0"/>
          <a:chExt cx="0" cy="0"/>
        </a:xfrm>
      </p:grpSpPr>
      <p:sp>
        <p:nvSpPr>
          <p:cNvPr name="Freeform 2" id="2"/>
          <p:cNvSpPr/>
          <p:nvPr/>
        </p:nvSpPr>
        <p:spPr>
          <a:xfrm flipH="false" flipV="false" rot="0">
            <a:off x="39516" y="0"/>
            <a:ext cx="18208972" cy="10287002"/>
          </a:xfrm>
          <a:custGeom>
            <a:avLst/>
            <a:gdLst/>
            <a:ahLst/>
            <a:cxnLst/>
            <a:rect r="r" b="b" t="t" l="l"/>
            <a:pathLst>
              <a:path h="10287002" w="18208972">
                <a:moveTo>
                  <a:pt x="0" y="0"/>
                </a:moveTo>
                <a:lnTo>
                  <a:pt x="18208972" y="0"/>
                </a:lnTo>
                <a:lnTo>
                  <a:pt x="18208972" y="10287002"/>
                </a:lnTo>
                <a:lnTo>
                  <a:pt x="0" y="10287002"/>
                </a:lnTo>
                <a:lnTo>
                  <a:pt x="0" y="0"/>
                </a:lnTo>
                <a:close/>
              </a:path>
            </a:pathLst>
          </a:custGeom>
          <a:blipFill>
            <a:blip r:embed="rId3"/>
            <a:stretch>
              <a:fillRect l="0" t="0" r="0" b="0"/>
            </a:stretch>
          </a:blipFill>
        </p:spPr>
      </p:sp>
      <p:sp>
        <p:nvSpPr>
          <p:cNvPr name="Freeform 3" id="3"/>
          <p:cNvSpPr/>
          <p:nvPr/>
        </p:nvSpPr>
        <p:spPr>
          <a:xfrm flipH="false" flipV="false" rot="0">
            <a:off x="-1445544" y="-643006"/>
            <a:ext cx="6122652" cy="3149606"/>
          </a:xfrm>
          <a:custGeom>
            <a:avLst/>
            <a:gdLst/>
            <a:ahLst/>
            <a:cxnLst/>
            <a:rect r="r" b="b" t="t" l="l"/>
            <a:pathLst>
              <a:path h="3149606" w="6122652">
                <a:moveTo>
                  <a:pt x="0" y="0"/>
                </a:moveTo>
                <a:lnTo>
                  <a:pt x="6122652" y="0"/>
                </a:lnTo>
                <a:lnTo>
                  <a:pt x="6122652" y="3149606"/>
                </a:lnTo>
                <a:lnTo>
                  <a:pt x="0" y="31496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593695" y="-1812182"/>
            <a:ext cx="6402419" cy="5508580"/>
          </a:xfrm>
          <a:custGeom>
            <a:avLst/>
            <a:gdLst/>
            <a:ahLst/>
            <a:cxnLst/>
            <a:rect r="r" b="b" t="t" l="l"/>
            <a:pathLst>
              <a:path h="5508580" w="6402419">
                <a:moveTo>
                  <a:pt x="0" y="0"/>
                </a:moveTo>
                <a:lnTo>
                  <a:pt x="6402419" y="0"/>
                </a:lnTo>
                <a:lnTo>
                  <a:pt x="6402419" y="5508580"/>
                </a:lnTo>
                <a:lnTo>
                  <a:pt x="0" y="55085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363691" y="-699662"/>
            <a:ext cx="2976969" cy="5566310"/>
          </a:xfrm>
          <a:custGeom>
            <a:avLst/>
            <a:gdLst/>
            <a:ahLst/>
            <a:cxnLst/>
            <a:rect r="r" b="b" t="t" l="l"/>
            <a:pathLst>
              <a:path h="5566310" w="2976969">
                <a:moveTo>
                  <a:pt x="0" y="0"/>
                </a:moveTo>
                <a:lnTo>
                  <a:pt x="2976969" y="0"/>
                </a:lnTo>
                <a:lnTo>
                  <a:pt x="2976969" y="5566310"/>
                </a:lnTo>
                <a:lnTo>
                  <a:pt x="0" y="55663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2992911" y="-3502554"/>
            <a:ext cx="9661043" cy="7827234"/>
          </a:xfrm>
          <a:custGeom>
            <a:avLst/>
            <a:gdLst/>
            <a:ahLst/>
            <a:cxnLst/>
            <a:rect r="r" b="b" t="t" l="l"/>
            <a:pathLst>
              <a:path h="7827234" w="9661043">
                <a:moveTo>
                  <a:pt x="0" y="0"/>
                </a:moveTo>
                <a:lnTo>
                  <a:pt x="9661043" y="0"/>
                </a:lnTo>
                <a:lnTo>
                  <a:pt x="9661043" y="7827234"/>
                </a:lnTo>
                <a:lnTo>
                  <a:pt x="0" y="78272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4938066" y="5334619"/>
            <a:ext cx="5557735" cy="4690028"/>
          </a:xfrm>
          <a:custGeom>
            <a:avLst/>
            <a:gdLst/>
            <a:ahLst/>
            <a:cxnLst/>
            <a:rect r="r" b="b" t="t" l="l"/>
            <a:pathLst>
              <a:path h="4690028" w="5557735">
                <a:moveTo>
                  <a:pt x="0" y="0"/>
                </a:moveTo>
                <a:lnTo>
                  <a:pt x="5557735" y="0"/>
                </a:lnTo>
                <a:lnTo>
                  <a:pt x="5557735" y="4690028"/>
                </a:lnTo>
                <a:lnTo>
                  <a:pt x="0" y="469002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3728397" y="5773228"/>
            <a:ext cx="6551542" cy="6487920"/>
          </a:xfrm>
          <a:custGeom>
            <a:avLst/>
            <a:gdLst/>
            <a:ahLst/>
            <a:cxnLst/>
            <a:rect r="r" b="b" t="t" l="l"/>
            <a:pathLst>
              <a:path h="6487920" w="6551542">
                <a:moveTo>
                  <a:pt x="0" y="0"/>
                </a:moveTo>
                <a:lnTo>
                  <a:pt x="6551542" y="0"/>
                </a:lnTo>
                <a:lnTo>
                  <a:pt x="6551542" y="6487920"/>
                </a:lnTo>
                <a:lnTo>
                  <a:pt x="0" y="648792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5660169" y="6461732"/>
            <a:ext cx="2931155" cy="4060233"/>
          </a:xfrm>
          <a:custGeom>
            <a:avLst/>
            <a:gdLst/>
            <a:ahLst/>
            <a:cxnLst/>
            <a:rect r="r" b="b" t="t" l="l"/>
            <a:pathLst>
              <a:path h="4060233" w="2931155">
                <a:moveTo>
                  <a:pt x="0" y="0"/>
                </a:moveTo>
                <a:lnTo>
                  <a:pt x="2931155" y="0"/>
                </a:lnTo>
                <a:lnTo>
                  <a:pt x="2931155" y="4060233"/>
                </a:lnTo>
                <a:lnTo>
                  <a:pt x="0" y="406023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2628609" y="3534441"/>
            <a:ext cx="6003141" cy="7560023"/>
          </a:xfrm>
          <a:custGeom>
            <a:avLst/>
            <a:gdLst/>
            <a:ahLst/>
            <a:cxnLst/>
            <a:rect r="r" b="b" t="t" l="l"/>
            <a:pathLst>
              <a:path h="7560023" w="6003141">
                <a:moveTo>
                  <a:pt x="0" y="0"/>
                </a:moveTo>
                <a:lnTo>
                  <a:pt x="6003142" y="0"/>
                </a:lnTo>
                <a:lnTo>
                  <a:pt x="6003142" y="7560024"/>
                </a:lnTo>
                <a:lnTo>
                  <a:pt x="0" y="756002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1352952" y="6264357"/>
            <a:ext cx="7996511" cy="7762396"/>
          </a:xfrm>
          <a:custGeom>
            <a:avLst/>
            <a:gdLst/>
            <a:ahLst/>
            <a:cxnLst/>
            <a:rect r="r" b="b" t="t" l="l"/>
            <a:pathLst>
              <a:path h="7762396" w="7996511">
                <a:moveTo>
                  <a:pt x="0" y="0"/>
                </a:moveTo>
                <a:lnTo>
                  <a:pt x="7996510" y="0"/>
                </a:lnTo>
                <a:lnTo>
                  <a:pt x="7996510" y="7762396"/>
                </a:lnTo>
                <a:lnTo>
                  <a:pt x="0" y="776239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2" id="12"/>
          <p:cNvSpPr/>
          <p:nvPr/>
        </p:nvSpPr>
        <p:spPr>
          <a:xfrm flipH="false" flipV="false" rot="0">
            <a:off x="-1945921" y="5430805"/>
            <a:ext cx="6730427" cy="5584741"/>
          </a:xfrm>
          <a:custGeom>
            <a:avLst/>
            <a:gdLst/>
            <a:ahLst/>
            <a:cxnLst/>
            <a:rect r="r" b="b" t="t" l="l"/>
            <a:pathLst>
              <a:path h="5584741" w="6730427">
                <a:moveTo>
                  <a:pt x="0" y="0"/>
                </a:moveTo>
                <a:lnTo>
                  <a:pt x="6730427" y="0"/>
                </a:lnTo>
                <a:lnTo>
                  <a:pt x="6730427" y="5584741"/>
                </a:lnTo>
                <a:lnTo>
                  <a:pt x="0" y="558474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3" id="13"/>
          <p:cNvSpPr/>
          <p:nvPr/>
        </p:nvSpPr>
        <p:spPr>
          <a:xfrm flipH="false" flipV="false" rot="0">
            <a:off x="-2901948" y="-3196214"/>
            <a:ext cx="7704000" cy="6891906"/>
          </a:xfrm>
          <a:custGeom>
            <a:avLst/>
            <a:gdLst/>
            <a:ahLst/>
            <a:cxnLst/>
            <a:rect r="r" b="b" t="t" l="l"/>
            <a:pathLst>
              <a:path h="6891906" w="7704000">
                <a:moveTo>
                  <a:pt x="0" y="0"/>
                </a:moveTo>
                <a:lnTo>
                  <a:pt x="7704000" y="0"/>
                </a:lnTo>
                <a:lnTo>
                  <a:pt x="7704000" y="6891906"/>
                </a:lnTo>
                <a:lnTo>
                  <a:pt x="0" y="6891906"/>
                </a:lnTo>
                <a:lnTo>
                  <a:pt x="0" y="0"/>
                </a:lnTo>
                <a:close/>
              </a:path>
            </a:pathLst>
          </a:custGeom>
          <a:blipFill>
            <a:blip r:embed="rId24">
              <a:alphaModFix amt="50000"/>
            </a:blip>
            <a:stretch>
              <a:fillRect l="0" t="0" r="0" b="0"/>
            </a:stretch>
          </a:blipFill>
        </p:spPr>
      </p:sp>
      <p:sp>
        <p:nvSpPr>
          <p:cNvPr name="Freeform 14" id="14"/>
          <p:cNvSpPr/>
          <p:nvPr/>
        </p:nvSpPr>
        <p:spPr>
          <a:xfrm flipH="false" flipV="false" rot="0">
            <a:off x="13476052" y="-2377064"/>
            <a:ext cx="7704000" cy="6891906"/>
          </a:xfrm>
          <a:custGeom>
            <a:avLst/>
            <a:gdLst/>
            <a:ahLst/>
            <a:cxnLst/>
            <a:rect r="r" b="b" t="t" l="l"/>
            <a:pathLst>
              <a:path h="6891906" w="7704000">
                <a:moveTo>
                  <a:pt x="0" y="0"/>
                </a:moveTo>
                <a:lnTo>
                  <a:pt x="7704000" y="0"/>
                </a:lnTo>
                <a:lnTo>
                  <a:pt x="7704000" y="6891906"/>
                </a:lnTo>
                <a:lnTo>
                  <a:pt x="0" y="6891906"/>
                </a:lnTo>
                <a:lnTo>
                  <a:pt x="0" y="0"/>
                </a:lnTo>
                <a:close/>
              </a:path>
            </a:pathLst>
          </a:custGeom>
          <a:blipFill>
            <a:blip r:embed="rId24">
              <a:alphaModFix amt="50000"/>
            </a:blip>
            <a:stretch>
              <a:fillRect l="0" t="0" r="0" b="0"/>
            </a:stretch>
          </a:blipFill>
        </p:spPr>
      </p:sp>
      <p:sp>
        <p:nvSpPr>
          <p:cNvPr name="Freeform 15" id="15"/>
          <p:cNvSpPr/>
          <p:nvPr/>
        </p:nvSpPr>
        <p:spPr>
          <a:xfrm flipH="false" flipV="false" rot="0">
            <a:off x="14000752" y="5138786"/>
            <a:ext cx="7704000" cy="6891906"/>
          </a:xfrm>
          <a:custGeom>
            <a:avLst/>
            <a:gdLst/>
            <a:ahLst/>
            <a:cxnLst/>
            <a:rect r="r" b="b" t="t" l="l"/>
            <a:pathLst>
              <a:path h="6891906" w="7704000">
                <a:moveTo>
                  <a:pt x="0" y="0"/>
                </a:moveTo>
                <a:lnTo>
                  <a:pt x="7704000" y="0"/>
                </a:lnTo>
                <a:lnTo>
                  <a:pt x="7704000" y="6891906"/>
                </a:lnTo>
                <a:lnTo>
                  <a:pt x="0" y="6891906"/>
                </a:lnTo>
                <a:lnTo>
                  <a:pt x="0" y="0"/>
                </a:lnTo>
                <a:close/>
              </a:path>
            </a:pathLst>
          </a:custGeom>
          <a:blipFill>
            <a:blip r:embed="rId24">
              <a:alphaModFix amt="50000"/>
            </a:blip>
            <a:stretch>
              <a:fillRect l="0" t="0" r="0" b="0"/>
            </a:stretch>
          </a:blipFill>
        </p:spPr>
      </p:sp>
      <p:sp>
        <p:nvSpPr>
          <p:cNvPr name="Freeform 16" id="16"/>
          <p:cNvSpPr/>
          <p:nvPr/>
        </p:nvSpPr>
        <p:spPr>
          <a:xfrm flipH="false" flipV="false" rot="-1518675">
            <a:off x="-2098272" y="4359238"/>
            <a:ext cx="7704000" cy="6891904"/>
          </a:xfrm>
          <a:custGeom>
            <a:avLst/>
            <a:gdLst/>
            <a:ahLst/>
            <a:cxnLst/>
            <a:rect r="r" b="b" t="t" l="l"/>
            <a:pathLst>
              <a:path h="6891904" w="7704000">
                <a:moveTo>
                  <a:pt x="0" y="0"/>
                </a:moveTo>
                <a:lnTo>
                  <a:pt x="7704000" y="0"/>
                </a:lnTo>
                <a:lnTo>
                  <a:pt x="7704000" y="6891904"/>
                </a:lnTo>
                <a:lnTo>
                  <a:pt x="0" y="6891904"/>
                </a:lnTo>
                <a:lnTo>
                  <a:pt x="0" y="0"/>
                </a:lnTo>
                <a:close/>
              </a:path>
            </a:pathLst>
          </a:custGeom>
          <a:blipFill>
            <a:blip r:embed="rId24">
              <a:alphaModFix amt="50000"/>
            </a:blip>
            <a:stretch>
              <a:fillRect l="0" t="0" r="0" b="0"/>
            </a:stretch>
          </a:blipFill>
        </p:spPr>
      </p:sp>
      <p:sp>
        <p:nvSpPr>
          <p:cNvPr name="Freeform 17" id="17"/>
          <p:cNvSpPr/>
          <p:nvPr/>
        </p:nvSpPr>
        <p:spPr>
          <a:xfrm flipH="false" flipV="false" rot="0">
            <a:off x="4932949" y="1126789"/>
            <a:ext cx="8664552" cy="7479719"/>
          </a:xfrm>
          <a:custGeom>
            <a:avLst/>
            <a:gdLst/>
            <a:ahLst/>
            <a:cxnLst/>
            <a:rect r="r" b="b" t="t" l="l"/>
            <a:pathLst>
              <a:path h="7479719" w="8664552">
                <a:moveTo>
                  <a:pt x="0" y="0"/>
                </a:moveTo>
                <a:lnTo>
                  <a:pt x="8664551" y="0"/>
                </a:lnTo>
                <a:lnTo>
                  <a:pt x="8664551" y="7479719"/>
                </a:lnTo>
                <a:lnTo>
                  <a:pt x="0" y="7479719"/>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TextBox 18" id="18"/>
          <p:cNvSpPr txBox="true"/>
          <p:nvPr/>
        </p:nvSpPr>
        <p:spPr>
          <a:xfrm rot="0">
            <a:off x="4144724" y="2756507"/>
            <a:ext cx="10023150" cy="3705225"/>
          </a:xfrm>
          <a:prstGeom prst="rect">
            <a:avLst/>
          </a:prstGeom>
        </p:spPr>
        <p:txBody>
          <a:bodyPr anchor="t" rtlCol="false" tIns="0" lIns="0" bIns="0" rIns="0">
            <a:spAutoFit/>
          </a:bodyPr>
          <a:lstStyle/>
          <a:p>
            <a:pPr algn="ctr">
              <a:lnSpc>
                <a:spcPts val="14400"/>
              </a:lnSpc>
            </a:pPr>
            <a:r>
              <a:rPr lang="en-US" b="true" sz="12000">
                <a:gradFill>
                  <a:gsLst>
                    <a:gs pos="0">
                      <a:srgbClr val="0097B2">
                        <a:alpha val="100000"/>
                      </a:srgbClr>
                    </a:gs>
                    <a:gs pos="100000">
                      <a:srgbClr val="7ED957">
                        <a:alpha val="100000"/>
                      </a:srgbClr>
                    </a:gs>
                  </a:gsLst>
                  <a:lin ang="0"/>
                </a:gradFill>
                <a:latin typeface="Arimo Bold"/>
                <a:ea typeface="Arimo Bold"/>
                <a:cs typeface="Arimo Bold"/>
                <a:sym typeface="Arimo Bold"/>
              </a:rPr>
              <a:t>Cảm ơn thầy và mọi người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DAHJhqSL5Oo</dc:identifier>
  <dcterms:modified xsi:type="dcterms:W3CDTF">2011-08-01T06:04:30Z</dcterms:modified>
  <cp:revision>1</cp:revision>
</cp:coreProperties>
</file>